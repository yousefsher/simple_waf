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Garet Bold" charset="1" panose="00000000000000000000"/>
      <p:regular r:id="rId17"/>
    </p:embeddedFont>
    <p:embeddedFont>
      <p:font typeface="Garet" charset="1" panose="00000000000000000000"/>
      <p:regular r:id="rId18"/>
    </p:embeddedFont>
    <p:embeddedFont>
      <p:font typeface="Archivo Black" charset="1" panose="020B0A03020202020B04"/>
      <p:regular r:id="rId19"/>
    </p:embeddedFont>
    <p:embeddedFont>
      <p:font typeface="Canva Sans Bold" charset="1" panose="020B0803030501040103"/>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1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24.png" Type="http://schemas.openxmlformats.org/officeDocument/2006/relationships/image"/><Relationship Id="rId4" Target="../media/image15.png" Type="http://schemas.openxmlformats.org/officeDocument/2006/relationships/image"/><Relationship Id="rId5" Target="../media/image2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26.png" Type="http://schemas.openxmlformats.org/officeDocument/2006/relationships/image"/><Relationship Id="rId4" Target="../media/image2.png" Type="http://schemas.openxmlformats.org/officeDocument/2006/relationships/image"/><Relationship Id="rId5" Target="../media/image2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3364" r="0" b="-3364"/>
              </a:stretch>
            </a:blipFill>
          </p:spPr>
        </p:sp>
      </p:grpSp>
      <p:sp>
        <p:nvSpPr>
          <p:cNvPr name="Freeform 4" id="4"/>
          <p:cNvSpPr/>
          <p:nvPr/>
        </p:nvSpPr>
        <p:spPr>
          <a:xfrm flipH="false" flipV="false" rot="0">
            <a:off x="15379298" y="8311463"/>
            <a:ext cx="1880002" cy="946837"/>
          </a:xfrm>
          <a:custGeom>
            <a:avLst/>
            <a:gdLst/>
            <a:ahLst/>
            <a:cxnLst/>
            <a:rect r="r" b="b" t="t" l="l"/>
            <a:pathLst>
              <a:path h="946837" w="1880002">
                <a:moveTo>
                  <a:pt x="0" y="0"/>
                </a:moveTo>
                <a:lnTo>
                  <a:pt x="1880002" y="0"/>
                </a:lnTo>
                <a:lnTo>
                  <a:pt x="1880002" y="946837"/>
                </a:lnTo>
                <a:lnTo>
                  <a:pt x="0" y="946837"/>
                </a:lnTo>
                <a:lnTo>
                  <a:pt x="0" y="0"/>
                </a:lnTo>
                <a:close/>
              </a:path>
            </a:pathLst>
          </a:custGeom>
          <a:blipFill>
            <a:blip r:embed="rId3">
              <a:extLst>
                <a:ext uri="{96DAC541-7B7A-43D3-8B79-37D633B846F1}">
                  <asvg:svgBlip xmlns:asvg="http://schemas.microsoft.com/office/drawing/2016/SVG/main" r:embed="rId4"/>
                </a:ext>
              </a:extLst>
            </a:blip>
            <a:stretch>
              <a:fillRect l="0" t="-140" r="0" b="-140"/>
            </a:stretch>
          </a:blipFill>
        </p:spPr>
      </p:sp>
      <p:sp>
        <p:nvSpPr>
          <p:cNvPr name="Freeform 5" id="5"/>
          <p:cNvSpPr/>
          <p:nvPr/>
        </p:nvSpPr>
        <p:spPr>
          <a:xfrm flipH="false" flipV="false" rot="0">
            <a:off x="1028700" y="1028700"/>
            <a:ext cx="797433" cy="707541"/>
          </a:xfrm>
          <a:custGeom>
            <a:avLst/>
            <a:gdLst/>
            <a:ahLst/>
            <a:cxnLst/>
            <a:rect r="r" b="b" t="t" l="l"/>
            <a:pathLst>
              <a:path h="707541" w="797433">
                <a:moveTo>
                  <a:pt x="0" y="0"/>
                </a:moveTo>
                <a:lnTo>
                  <a:pt x="797433" y="0"/>
                </a:lnTo>
                <a:lnTo>
                  <a:pt x="797433" y="707541"/>
                </a:lnTo>
                <a:lnTo>
                  <a:pt x="0" y="707541"/>
                </a:lnTo>
                <a:lnTo>
                  <a:pt x="0" y="0"/>
                </a:lnTo>
                <a:close/>
              </a:path>
            </a:pathLst>
          </a:custGeom>
          <a:blipFill>
            <a:blip r:embed="rId5">
              <a:extLst>
                <a:ext uri="{96DAC541-7B7A-43D3-8B79-37D633B846F1}">
                  <asvg:svgBlip xmlns:asvg="http://schemas.microsoft.com/office/drawing/2016/SVG/main" r:embed="rId6"/>
                </a:ext>
              </a:extLst>
            </a:blip>
            <a:stretch>
              <a:fillRect l="0" t="-314" r="0" b="-314"/>
            </a:stretch>
          </a:blipFill>
        </p:spPr>
      </p:sp>
      <p:sp>
        <p:nvSpPr>
          <p:cNvPr name="TextBox 6" id="6"/>
          <p:cNvSpPr txBox="true"/>
          <p:nvPr/>
        </p:nvSpPr>
        <p:spPr>
          <a:xfrm rot="0">
            <a:off x="1028700" y="8966251"/>
            <a:ext cx="3366096" cy="236855"/>
          </a:xfrm>
          <a:prstGeom prst="rect">
            <a:avLst/>
          </a:prstGeom>
        </p:spPr>
        <p:txBody>
          <a:bodyPr anchor="t" rtlCol="false" tIns="0" lIns="0" bIns="0" rIns="0">
            <a:spAutoFit/>
          </a:bodyPr>
          <a:lstStyle/>
          <a:p>
            <a:pPr algn="l">
              <a:lnSpc>
                <a:spcPts val="2078"/>
              </a:lnSpc>
            </a:pPr>
            <a:r>
              <a:rPr lang="en-US" sz="1599" b="true">
                <a:solidFill>
                  <a:srgbClr val="2B2B2B"/>
                </a:solidFill>
                <a:latin typeface="Garet Bold"/>
                <a:ea typeface="Garet Bold"/>
                <a:cs typeface="Garet Bold"/>
                <a:sym typeface="Garet Bold"/>
              </a:rPr>
              <a:t>Web Application Firewall</a:t>
            </a:r>
          </a:p>
        </p:txBody>
      </p:sp>
      <p:sp>
        <p:nvSpPr>
          <p:cNvPr name="TextBox 7" id="7"/>
          <p:cNvSpPr txBox="true"/>
          <p:nvPr/>
        </p:nvSpPr>
        <p:spPr>
          <a:xfrm rot="0">
            <a:off x="4394796" y="8677224"/>
            <a:ext cx="3366096" cy="236855"/>
          </a:xfrm>
          <a:prstGeom prst="rect">
            <a:avLst/>
          </a:prstGeom>
        </p:spPr>
        <p:txBody>
          <a:bodyPr anchor="t" rtlCol="false" tIns="0" lIns="0" bIns="0" rIns="0">
            <a:spAutoFit/>
          </a:bodyPr>
          <a:lstStyle/>
          <a:p>
            <a:pPr algn="l">
              <a:lnSpc>
                <a:spcPts val="2078"/>
              </a:lnSpc>
            </a:pPr>
            <a:r>
              <a:rPr lang="en-US" sz="1599" b="true">
                <a:solidFill>
                  <a:srgbClr val="2B2B2B"/>
                </a:solidFill>
                <a:latin typeface="Garet Bold"/>
                <a:ea typeface="Garet Bold"/>
                <a:cs typeface="Garet Bold"/>
                <a:sym typeface="Garet Bold"/>
              </a:rPr>
              <a:t>PRESENTED TO:</a:t>
            </a:r>
          </a:p>
        </p:txBody>
      </p:sp>
      <p:sp>
        <p:nvSpPr>
          <p:cNvPr name="TextBox 8" id="8"/>
          <p:cNvSpPr txBox="true"/>
          <p:nvPr/>
        </p:nvSpPr>
        <p:spPr>
          <a:xfrm rot="0">
            <a:off x="4394796" y="8966251"/>
            <a:ext cx="3366096" cy="236855"/>
          </a:xfrm>
          <a:prstGeom prst="rect">
            <a:avLst/>
          </a:prstGeom>
        </p:spPr>
        <p:txBody>
          <a:bodyPr anchor="t" rtlCol="false" tIns="0" lIns="0" bIns="0" rIns="0">
            <a:spAutoFit/>
          </a:bodyPr>
          <a:lstStyle/>
          <a:p>
            <a:pPr algn="l">
              <a:lnSpc>
                <a:spcPts val="2078"/>
              </a:lnSpc>
            </a:pPr>
            <a:r>
              <a:rPr lang="en-US" sz="1599">
                <a:solidFill>
                  <a:srgbClr val="2B2B2B"/>
                </a:solidFill>
                <a:latin typeface="Garet"/>
                <a:ea typeface="Garet"/>
                <a:cs typeface="Garet"/>
                <a:sym typeface="Garet"/>
              </a:rPr>
              <a:t>Fcai</a:t>
            </a:r>
          </a:p>
        </p:txBody>
      </p:sp>
      <p:sp>
        <p:nvSpPr>
          <p:cNvPr name="TextBox 9" id="9"/>
          <p:cNvSpPr txBox="true"/>
          <p:nvPr/>
        </p:nvSpPr>
        <p:spPr>
          <a:xfrm rot="0">
            <a:off x="6485854" y="4379258"/>
            <a:ext cx="10773446" cy="1876013"/>
          </a:xfrm>
          <a:prstGeom prst="rect">
            <a:avLst/>
          </a:prstGeom>
        </p:spPr>
        <p:txBody>
          <a:bodyPr anchor="t" rtlCol="false" tIns="0" lIns="0" bIns="0" rIns="0">
            <a:spAutoFit/>
          </a:bodyPr>
          <a:lstStyle/>
          <a:p>
            <a:pPr algn="r">
              <a:lnSpc>
                <a:spcPts val="8490"/>
              </a:lnSpc>
            </a:pPr>
            <a:r>
              <a:rPr lang="en-US" sz="10885" spc="-858">
                <a:solidFill>
                  <a:srgbClr val="000000"/>
                </a:solidFill>
                <a:latin typeface="Archivo Black"/>
                <a:ea typeface="Archivo Black"/>
                <a:cs typeface="Archivo Black"/>
                <a:sym typeface="Archivo Black"/>
              </a:rPr>
              <a:t>WEB </a:t>
            </a:r>
          </a:p>
          <a:p>
            <a:pPr algn="r">
              <a:lnSpc>
                <a:spcPts val="8490"/>
              </a:lnSpc>
            </a:pPr>
            <a:r>
              <a:rPr lang="en-US" sz="10885" spc="-858">
                <a:solidFill>
                  <a:srgbClr val="000000"/>
                </a:solidFill>
                <a:latin typeface="Archivo Black"/>
                <a:ea typeface="Archivo Black"/>
                <a:cs typeface="Archivo Black"/>
                <a:sym typeface="Archivo Black"/>
              </a:rPr>
              <a:t>APP FIREWALL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3364" r="0" b="-3364"/>
              </a:stretch>
            </a:blipFill>
          </p:spPr>
        </p:sp>
      </p:grpSp>
      <p:graphicFrame>
        <p:nvGraphicFramePr>
          <p:cNvPr name="Table 4" id="4"/>
          <p:cNvGraphicFramePr>
            <a:graphicFrameLocks noGrp="true"/>
          </p:cNvGraphicFramePr>
          <p:nvPr/>
        </p:nvGraphicFramePr>
        <p:xfrm>
          <a:off x="10199594" y="1814513"/>
          <a:ext cx="5880100" cy="6563519"/>
        </p:xfrm>
        <a:graphic>
          <a:graphicData uri="http://schemas.openxmlformats.org/drawingml/2006/table">
            <a:tbl>
              <a:tblPr/>
              <a:tblGrid>
                <a:gridCol w="891230"/>
                <a:gridCol w="4988870"/>
              </a:tblGrid>
              <a:tr h="812778">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03</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a:solidFill>
                            <a:srgbClr val="000000"/>
                          </a:solidFill>
                          <a:latin typeface="Garet"/>
                          <a:ea typeface="Garet"/>
                          <a:cs typeface="Garet"/>
                          <a:sym typeface="Garet"/>
                        </a:rPr>
                        <a:t>What is WAF</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4">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What is OWasp</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4">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Vulnerabilities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4">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06</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Cross-Site Scripting</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4">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07</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SQL Injection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4">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08</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Path Traversal</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4">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09</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Server side requ</a:t>
                      </a:r>
                      <a:r>
                        <a:rPr lang="en-US" sz="1999" b="true">
                          <a:solidFill>
                            <a:srgbClr val="000000"/>
                          </a:solidFill>
                          <a:latin typeface="Garet Bold"/>
                          <a:ea typeface="Garet Bold"/>
                          <a:cs typeface="Garet Bold"/>
                          <a:sym typeface="Garet Bold"/>
                        </a:rPr>
                        <a:t>est forgery</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4">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10</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Nginx</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Freeform 5" id="5"/>
          <p:cNvSpPr/>
          <p:nvPr/>
        </p:nvSpPr>
        <p:spPr>
          <a:xfrm flipH="false" flipV="false" rot="0">
            <a:off x="-706637" y="1559650"/>
            <a:ext cx="9125543" cy="7167700"/>
          </a:xfrm>
          <a:custGeom>
            <a:avLst/>
            <a:gdLst/>
            <a:ahLst/>
            <a:cxnLst/>
            <a:rect r="r" b="b" t="t" l="l"/>
            <a:pathLst>
              <a:path h="7167700" w="9125543">
                <a:moveTo>
                  <a:pt x="0" y="0"/>
                </a:moveTo>
                <a:lnTo>
                  <a:pt x="9125543" y="0"/>
                </a:lnTo>
                <a:lnTo>
                  <a:pt x="9125543" y="7167700"/>
                </a:lnTo>
                <a:lnTo>
                  <a:pt x="0" y="7167700"/>
                </a:lnTo>
                <a:lnTo>
                  <a:pt x="0" y="0"/>
                </a:lnTo>
                <a:close/>
              </a:path>
            </a:pathLst>
          </a:custGeom>
          <a:blipFill>
            <a:blip r:embed="rId3">
              <a:extLst>
                <a:ext uri="{96DAC541-7B7A-43D3-8B79-37D633B846F1}">
                  <asvg:svgBlip xmlns:asvg="http://schemas.microsoft.com/office/drawing/2016/SVG/main" r:embed="rId4"/>
                </a:ext>
              </a:extLst>
            </a:blip>
            <a:stretch>
              <a:fillRect l="0" t="-49" r="0" b="-49"/>
            </a:stretch>
          </a:blipFill>
        </p:spPr>
      </p:sp>
      <p:sp>
        <p:nvSpPr>
          <p:cNvPr name="Freeform 6" id="6"/>
          <p:cNvSpPr/>
          <p:nvPr/>
        </p:nvSpPr>
        <p:spPr>
          <a:xfrm flipH="false" flipV="false" rot="0">
            <a:off x="14799313" y="0"/>
            <a:ext cx="3488687" cy="1198840"/>
          </a:xfrm>
          <a:custGeom>
            <a:avLst/>
            <a:gdLst/>
            <a:ahLst/>
            <a:cxnLst/>
            <a:rect r="r" b="b" t="t" l="l"/>
            <a:pathLst>
              <a:path h="1198840" w="3488687">
                <a:moveTo>
                  <a:pt x="0" y="0"/>
                </a:moveTo>
                <a:lnTo>
                  <a:pt x="3488687" y="0"/>
                </a:lnTo>
                <a:lnTo>
                  <a:pt x="3488687" y="1198840"/>
                </a:lnTo>
                <a:lnTo>
                  <a:pt x="0" y="1198840"/>
                </a:lnTo>
                <a:lnTo>
                  <a:pt x="0" y="0"/>
                </a:lnTo>
                <a:close/>
              </a:path>
            </a:pathLst>
          </a:custGeom>
          <a:blipFill>
            <a:blip r:embed="rId5">
              <a:extLst>
                <a:ext uri="{96DAC541-7B7A-43D3-8B79-37D633B846F1}">
                  <asvg:svgBlip xmlns:asvg="http://schemas.microsoft.com/office/drawing/2016/SVG/main" r:embed="rId6"/>
                </a:ext>
              </a:extLst>
            </a:blip>
            <a:stretch>
              <a:fillRect l="-45" t="0" r="-45" b="0"/>
            </a:stretch>
          </a:blipFill>
        </p:spPr>
      </p:sp>
      <p:sp>
        <p:nvSpPr>
          <p:cNvPr name="TextBox 7" id="7"/>
          <p:cNvSpPr txBox="true"/>
          <p:nvPr/>
        </p:nvSpPr>
        <p:spPr>
          <a:xfrm rot="0">
            <a:off x="1604641" y="2534942"/>
            <a:ext cx="6531462" cy="690454"/>
          </a:xfrm>
          <a:prstGeom prst="rect">
            <a:avLst/>
          </a:prstGeom>
        </p:spPr>
        <p:txBody>
          <a:bodyPr anchor="t" rtlCol="false" tIns="0" lIns="0" bIns="0" rIns="0">
            <a:spAutoFit/>
          </a:bodyPr>
          <a:lstStyle/>
          <a:p>
            <a:pPr algn="just">
              <a:lnSpc>
                <a:spcPts val="5808"/>
              </a:lnSpc>
            </a:pPr>
            <a:r>
              <a:rPr lang="en-US" sz="5808" spc="-458">
                <a:solidFill>
                  <a:srgbClr val="FFFFFF"/>
                </a:solidFill>
                <a:latin typeface="Archivo Black"/>
                <a:ea typeface="Archivo Black"/>
                <a:cs typeface="Archivo Black"/>
                <a:sym typeface="Archivo Black"/>
              </a:rPr>
              <a:t>Agenda</a:t>
            </a:r>
          </a:p>
        </p:txBody>
      </p:sp>
      <p:sp>
        <p:nvSpPr>
          <p:cNvPr name="TextBox 8" id="8"/>
          <p:cNvSpPr txBox="true"/>
          <p:nvPr/>
        </p:nvSpPr>
        <p:spPr>
          <a:xfrm rot="0">
            <a:off x="1604641" y="5358686"/>
            <a:ext cx="3904176" cy="1397000"/>
          </a:xfrm>
          <a:prstGeom prst="rect">
            <a:avLst/>
          </a:prstGeom>
        </p:spPr>
        <p:txBody>
          <a:bodyPr anchor="t" rtlCol="false" tIns="0" lIns="0" bIns="0" rIns="0">
            <a:spAutoFit/>
          </a:bodyPr>
          <a:lstStyle/>
          <a:p>
            <a:pPr algn="just">
              <a:lnSpc>
                <a:spcPts val="2800"/>
              </a:lnSpc>
            </a:pPr>
            <a:r>
              <a:rPr lang="en-US" sz="2000" b="true">
                <a:solidFill>
                  <a:srgbClr val="FFFFFF"/>
                </a:solidFill>
                <a:latin typeface="Garet Bold"/>
                <a:ea typeface="Garet Bold"/>
                <a:cs typeface="Garet Bold"/>
                <a:sym typeface="Garet Bold"/>
              </a:rPr>
              <a:t>Khaled Mohamed 20226040</a:t>
            </a:r>
          </a:p>
          <a:p>
            <a:pPr algn="just">
              <a:lnSpc>
                <a:spcPts val="2800"/>
              </a:lnSpc>
            </a:pPr>
            <a:r>
              <a:rPr lang="en-US" sz="2000" b="true">
                <a:solidFill>
                  <a:srgbClr val="FFFFFF"/>
                </a:solidFill>
                <a:latin typeface="Garet Bold"/>
                <a:ea typeface="Garet Bold"/>
                <a:cs typeface="Garet Bold"/>
                <a:sym typeface="Garet Bold"/>
              </a:rPr>
              <a:t>Ziad Medhat 20226044</a:t>
            </a:r>
          </a:p>
          <a:p>
            <a:pPr algn="just">
              <a:lnSpc>
                <a:spcPts val="2800"/>
              </a:lnSpc>
            </a:pPr>
            <a:r>
              <a:rPr lang="en-US" sz="2000" b="true">
                <a:solidFill>
                  <a:srgbClr val="FFFFFF"/>
                </a:solidFill>
                <a:latin typeface="Garet Bold"/>
                <a:ea typeface="Garet Bold"/>
                <a:cs typeface="Garet Bold"/>
                <a:sym typeface="Garet Bold"/>
              </a:rPr>
              <a:t>Youssef Shrief 20226117</a:t>
            </a:r>
          </a:p>
          <a:p>
            <a:pPr algn="just">
              <a:lnSpc>
                <a:spcPts val="2800"/>
              </a:lnSpc>
            </a:pPr>
            <a:r>
              <a:rPr lang="en-US" sz="2000" b="true">
                <a:solidFill>
                  <a:srgbClr val="FFFFFF"/>
                </a:solidFill>
                <a:latin typeface="Garet Bold"/>
                <a:ea typeface="Garet Bold"/>
                <a:cs typeface="Garet Bold"/>
                <a:sym typeface="Garet Bold"/>
              </a:rPr>
              <a:t>Fady Nagy 20226074</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3364" r="0" b="-3364"/>
              </a:stretch>
            </a:blipFill>
          </p:spPr>
        </p:sp>
      </p:grpSp>
      <p:grpSp>
        <p:nvGrpSpPr>
          <p:cNvPr name="Group 4" id="4"/>
          <p:cNvGrpSpPr/>
          <p:nvPr/>
        </p:nvGrpSpPr>
        <p:grpSpPr>
          <a:xfrm rot="0">
            <a:off x="5958041" y="4005389"/>
            <a:ext cx="11301259" cy="5113820"/>
            <a:chOff x="0" y="0"/>
            <a:chExt cx="15068345" cy="6818427"/>
          </a:xfrm>
        </p:grpSpPr>
        <p:sp>
          <p:nvSpPr>
            <p:cNvPr name="Freeform 5" id="5"/>
            <p:cNvSpPr/>
            <p:nvPr/>
          </p:nvSpPr>
          <p:spPr>
            <a:xfrm flipH="false" flipV="false" rot="0">
              <a:off x="0" y="0"/>
              <a:ext cx="15068296" cy="6818376"/>
            </a:xfrm>
            <a:custGeom>
              <a:avLst/>
              <a:gdLst/>
              <a:ahLst/>
              <a:cxnLst/>
              <a:rect r="r" b="b" t="t" l="l"/>
              <a:pathLst>
                <a:path h="6818376" w="15068296">
                  <a:moveTo>
                    <a:pt x="0" y="0"/>
                  </a:moveTo>
                  <a:lnTo>
                    <a:pt x="15068296" y="0"/>
                  </a:lnTo>
                  <a:lnTo>
                    <a:pt x="15068296" y="6818376"/>
                  </a:lnTo>
                  <a:lnTo>
                    <a:pt x="0" y="6818376"/>
                  </a:lnTo>
                  <a:lnTo>
                    <a:pt x="0" y="0"/>
                  </a:lnTo>
                  <a:close/>
                </a:path>
              </a:pathLst>
            </a:custGeom>
            <a:blipFill>
              <a:blip r:embed="rId3"/>
              <a:stretch>
                <a:fillRect l="-14" t="0" r="-15" b="0"/>
              </a:stretch>
            </a:blipFill>
          </p:spPr>
        </p:sp>
      </p:grpSp>
      <p:sp>
        <p:nvSpPr>
          <p:cNvPr name="TextBox 6" id="6"/>
          <p:cNvSpPr txBox="true"/>
          <p:nvPr/>
        </p:nvSpPr>
        <p:spPr>
          <a:xfrm rot="0">
            <a:off x="13430366" y="2115421"/>
            <a:ext cx="3828934" cy="1435100"/>
          </a:xfrm>
          <a:prstGeom prst="rect">
            <a:avLst/>
          </a:prstGeom>
        </p:spPr>
        <p:txBody>
          <a:bodyPr anchor="t" rtlCol="false" tIns="0" lIns="0" bIns="0" rIns="0">
            <a:spAutoFit/>
          </a:bodyPr>
          <a:lstStyle/>
          <a:p>
            <a:pPr algn="r">
              <a:lnSpc>
                <a:spcPts val="2800"/>
              </a:lnSpc>
            </a:pPr>
            <a:r>
              <a:rPr lang="en-US" sz="2000">
                <a:solidFill>
                  <a:srgbClr val="000000"/>
                </a:solidFill>
                <a:latin typeface="Garet"/>
                <a:ea typeface="Garet"/>
                <a:cs typeface="Garet"/>
                <a:sym typeface="Garet"/>
              </a:rPr>
              <a:t>A WAF is a security solution that monitors, filters, and blocks HTTP traffic to and from a web application.</a:t>
            </a:r>
          </a:p>
        </p:txBody>
      </p:sp>
      <p:sp>
        <p:nvSpPr>
          <p:cNvPr name="TextBox 7" id="7"/>
          <p:cNvSpPr txBox="true"/>
          <p:nvPr/>
        </p:nvSpPr>
        <p:spPr>
          <a:xfrm rot="0">
            <a:off x="1752166" y="4035425"/>
            <a:ext cx="3120902" cy="2492375"/>
          </a:xfrm>
          <a:prstGeom prst="rect">
            <a:avLst/>
          </a:prstGeom>
        </p:spPr>
        <p:txBody>
          <a:bodyPr anchor="t" rtlCol="false" tIns="0" lIns="0" bIns="0" rIns="0">
            <a:spAutoFit/>
          </a:bodyPr>
          <a:lstStyle/>
          <a:p>
            <a:pPr algn="l">
              <a:lnSpc>
                <a:spcPts val="2800"/>
              </a:lnSpc>
            </a:pPr>
            <a:r>
              <a:rPr lang="en-US" sz="2000">
                <a:solidFill>
                  <a:srgbClr val="000000"/>
                </a:solidFill>
                <a:latin typeface="Garet"/>
                <a:ea typeface="Garet"/>
                <a:cs typeface="Garet"/>
                <a:sym typeface="Garet"/>
              </a:rPr>
              <a:t>It protects against common attacks like SQL injection, XSS, and path traversal by inspecting the HTTP requests before they reach the application.</a:t>
            </a:r>
          </a:p>
        </p:txBody>
      </p:sp>
      <p:sp>
        <p:nvSpPr>
          <p:cNvPr name="TextBox 8" id="8"/>
          <p:cNvSpPr txBox="true"/>
          <p:nvPr/>
        </p:nvSpPr>
        <p:spPr>
          <a:xfrm rot="0">
            <a:off x="1044134" y="4035425"/>
            <a:ext cx="467670" cy="377825"/>
          </a:xfrm>
          <a:prstGeom prst="rect">
            <a:avLst/>
          </a:prstGeom>
        </p:spPr>
        <p:txBody>
          <a:bodyPr anchor="t" rtlCol="false" tIns="0" lIns="0" bIns="0" rIns="0">
            <a:spAutoFit/>
          </a:bodyPr>
          <a:lstStyle/>
          <a:p>
            <a:pPr algn="r">
              <a:lnSpc>
                <a:spcPts val="2800"/>
              </a:lnSpc>
            </a:pPr>
            <a:r>
              <a:rPr lang="en-US" sz="2000" b="true">
                <a:solidFill>
                  <a:srgbClr val="000000"/>
                </a:solidFill>
                <a:latin typeface="Garet Bold"/>
                <a:ea typeface="Garet Bold"/>
                <a:cs typeface="Garet Bold"/>
                <a:sym typeface="Garet Bold"/>
              </a:rPr>
              <a:t>02</a:t>
            </a:r>
          </a:p>
        </p:txBody>
      </p:sp>
      <p:sp>
        <p:nvSpPr>
          <p:cNvPr name="TextBox 9" id="9"/>
          <p:cNvSpPr txBox="true"/>
          <p:nvPr/>
        </p:nvSpPr>
        <p:spPr>
          <a:xfrm rot="0">
            <a:off x="1767601" y="1091591"/>
            <a:ext cx="3120902" cy="2139950"/>
          </a:xfrm>
          <a:prstGeom prst="rect">
            <a:avLst/>
          </a:prstGeom>
        </p:spPr>
        <p:txBody>
          <a:bodyPr anchor="t" rtlCol="false" tIns="0" lIns="0" bIns="0" rIns="0">
            <a:spAutoFit/>
          </a:bodyPr>
          <a:lstStyle/>
          <a:p>
            <a:pPr algn="l">
              <a:lnSpc>
                <a:spcPts val="2800"/>
              </a:lnSpc>
            </a:pPr>
            <a:r>
              <a:rPr lang="en-US" sz="2000">
                <a:solidFill>
                  <a:srgbClr val="000000"/>
                </a:solidFill>
                <a:latin typeface="Garet"/>
                <a:ea typeface="Garet"/>
                <a:cs typeface="Garet"/>
                <a:sym typeface="Garet"/>
              </a:rPr>
              <a:t>It sits in front of the web application, often deployed as a reverse proxy, network-based appliance, or cloud service.</a:t>
            </a:r>
          </a:p>
        </p:txBody>
      </p:sp>
      <p:sp>
        <p:nvSpPr>
          <p:cNvPr name="TextBox 10" id="10"/>
          <p:cNvSpPr txBox="true"/>
          <p:nvPr/>
        </p:nvSpPr>
        <p:spPr>
          <a:xfrm rot="0">
            <a:off x="1028700" y="1091591"/>
            <a:ext cx="467670" cy="377825"/>
          </a:xfrm>
          <a:prstGeom prst="rect">
            <a:avLst/>
          </a:prstGeom>
        </p:spPr>
        <p:txBody>
          <a:bodyPr anchor="t" rtlCol="false" tIns="0" lIns="0" bIns="0" rIns="0">
            <a:spAutoFit/>
          </a:bodyPr>
          <a:lstStyle/>
          <a:p>
            <a:pPr algn="r">
              <a:lnSpc>
                <a:spcPts val="2800"/>
              </a:lnSpc>
            </a:pPr>
            <a:r>
              <a:rPr lang="en-US" sz="2000" b="true">
                <a:solidFill>
                  <a:srgbClr val="000000"/>
                </a:solidFill>
                <a:latin typeface="Garet Bold"/>
                <a:ea typeface="Garet Bold"/>
                <a:cs typeface="Garet Bold"/>
                <a:sym typeface="Garet Bold"/>
              </a:rPr>
              <a:t>01</a:t>
            </a:r>
          </a:p>
        </p:txBody>
      </p:sp>
      <p:sp>
        <p:nvSpPr>
          <p:cNvPr name="TextBox 11" id="11"/>
          <p:cNvSpPr txBox="true"/>
          <p:nvPr/>
        </p:nvSpPr>
        <p:spPr>
          <a:xfrm rot="0">
            <a:off x="10055907" y="1358291"/>
            <a:ext cx="7203393" cy="690454"/>
          </a:xfrm>
          <a:prstGeom prst="rect">
            <a:avLst/>
          </a:prstGeom>
        </p:spPr>
        <p:txBody>
          <a:bodyPr anchor="t" rtlCol="false" tIns="0" lIns="0" bIns="0" rIns="0">
            <a:spAutoFit/>
          </a:bodyPr>
          <a:lstStyle/>
          <a:p>
            <a:pPr algn="r">
              <a:lnSpc>
                <a:spcPts val="5808"/>
              </a:lnSpc>
            </a:pPr>
            <a:r>
              <a:rPr lang="en-US" sz="5808" spc="-458">
                <a:solidFill>
                  <a:srgbClr val="000000"/>
                </a:solidFill>
                <a:latin typeface="Archivo Black"/>
                <a:ea typeface="Archivo Black"/>
                <a:cs typeface="Archivo Black"/>
                <a:sym typeface="Archivo Black"/>
              </a:rPr>
              <a:t>WAF</a:t>
            </a:r>
          </a:p>
        </p:txBody>
      </p:sp>
      <p:sp>
        <p:nvSpPr>
          <p:cNvPr name="TextBox 12" id="12"/>
          <p:cNvSpPr txBox="true"/>
          <p:nvPr/>
        </p:nvSpPr>
        <p:spPr>
          <a:xfrm rot="0">
            <a:off x="12938218" y="615315"/>
            <a:ext cx="4321082" cy="413385"/>
          </a:xfrm>
          <a:prstGeom prst="rect">
            <a:avLst/>
          </a:prstGeom>
        </p:spPr>
        <p:txBody>
          <a:bodyPr anchor="t" rtlCol="false" tIns="0" lIns="0" bIns="0" rIns="0">
            <a:spAutoFit/>
          </a:bodyPr>
          <a:lstStyle/>
          <a:p>
            <a:pPr algn="r">
              <a:lnSpc>
                <a:spcPts val="2939"/>
              </a:lnSpc>
            </a:pPr>
            <a:r>
              <a:rPr lang="en-US" sz="2099" b="true">
                <a:solidFill>
                  <a:srgbClr val="000000"/>
                </a:solidFill>
                <a:latin typeface="Garet Bold"/>
                <a:ea typeface="Garet Bold"/>
                <a:cs typeface="Garet Bold"/>
                <a:sym typeface="Garet Bold"/>
              </a:rPr>
              <a:t>3/</a:t>
            </a:r>
          </a:p>
        </p:txBody>
      </p:sp>
      <p:sp>
        <p:nvSpPr>
          <p:cNvPr name="TextBox 13" id="13"/>
          <p:cNvSpPr txBox="true"/>
          <p:nvPr/>
        </p:nvSpPr>
        <p:spPr>
          <a:xfrm rot="0">
            <a:off x="1059569" y="6979259"/>
            <a:ext cx="467670" cy="377825"/>
          </a:xfrm>
          <a:prstGeom prst="rect">
            <a:avLst/>
          </a:prstGeom>
        </p:spPr>
        <p:txBody>
          <a:bodyPr anchor="t" rtlCol="false" tIns="0" lIns="0" bIns="0" rIns="0">
            <a:spAutoFit/>
          </a:bodyPr>
          <a:lstStyle/>
          <a:p>
            <a:pPr algn="r">
              <a:lnSpc>
                <a:spcPts val="2800"/>
              </a:lnSpc>
            </a:pPr>
            <a:r>
              <a:rPr lang="en-US" sz="2000" b="true">
                <a:solidFill>
                  <a:srgbClr val="000000"/>
                </a:solidFill>
                <a:latin typeface="Garet Bold"/>
                <a:ea typeface="Garet Bold"/>
                <a:cs typeface="Garet Bold"/>
                <a:sym typeface="Garet Bold"/>
              </a:rPr>
              <a:t>03</a:t>
            </a:r>
          </a:p>
        </p:txBody>
      </p:sp>
      <p:sp>
        <p:nvSpPr>
          <p:cNvPr name="TextBox 14" id="14"/>
          <p:cNvSpPr txBox="true"/>
          <p:nvPr/>
        </p:nvSpPr>
        <p:spPr>
          <a:xfrm rot="0">
            <a:off x="1736732" y="6979259"/>
            <a:ext cx="3120902" cy="2139950"/>
          </a:xfrm>
          <a:prstGeom prst="rect">
            <a:avLst/>
          </a:prstGeom>
        </p:spPr>
        <p:txBody>
          <a:bodyPr anchor="t" rtlCol="false" tIns="0" lIns="0" bIns="0" rIns="0">
            <a:spAutoFit/>
          </a:bodyPr>
          <a:lstStyle/>
          <a:p>
            <a:pPr algn="l">
              <a:lnSpc>
                <a:spcPts val="2800"/>
              </a:lnSpc>
            </a:pPr>
            <a:r>
              <a:rPr lang="en-US" sz="2000">
                <a:solidFill>
                  <a:srgbClr val="000000"/>
                </a:solidFill>
                <a:latin typeface="Garet"/>
                <a:ea typeface="Garet"/>
                <a:cs typeface="Garet"/>
                <a:sym typeface="Garet"/>
              </a:rPr>
              <a:t>WAFs operate based on a set of rules, often called policies or signatures, that define what traffic is considered malicious.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4921626" y="749417"/>
            <a:ext cx="7460022" cy="2592358"/>
          </a:xfrm>
          <a:custGeom>
            <a:avLst/>
            <a:gdLst/>
            <a:ahLst/>
            <a:cxnLst/>
            <a:rect r="r" b="b" t="t" l="l"/>
            <a:pathLst>
              <a:path h="2592358" w="7460022">
                <a:moveTo>
                  <a:pt x="0" y="0"/>
                </a:moveTo>
                <a:lnTo>
                  <a:pt x="7460022" y="0"/>
                </a:lnTo>
                <a:lnTo>
                  <a:pt x="7460022" y="2592357"/>
                </a:lnTo>
                <a:lnTo>
                  <a:pt x="0" y="2592357"/>
                </a:lnTo>
                <a:lnTo>
                  <a:pt x="0" y="0"/>
                </a:lnTo>
                <a:close/>
              </a:path>
            </a:pathLst>
          </a:custGeom>
          <a:blipFill>
            <a:blip r:embed="rId3"/>
            <a:stretch>
              <a:fillRect l="0" t="0" r="0" b="0"/>
            </a:stretch>
          </a:blipFill>
        </p:spPr>
      </p:sp>
      <p:sp>
        <p:nvSpPr>
          <p:cNvPr name="TextBox 4" id="4"/>
          <p:cNvSpPr txBox="true"/>
          <p:nvPr/>
        </p:nvSpPr>
        <p:spPr>
          <a:xfrm rot="0">
            <a:off x="9144000" y="5668645"/>
            <a:ext cx="8488722" cy="3589655"/>
          </a:xfrm>
          <a:prstGeom prst="rect">
            <a:avLst/>
          </a:prstGeom>
        </p:spPr>
        <p:txBody>
          <a:bodyPr anchor="t" rtlCol="false" tIns="0" lIns="0" bIns="0" rIns="0">
            <a:spAutoFit/>
          </a:bodyPr>
          <a:lstStyle/>
          <a:p>
            <a:pPr algn="r">
              <a:lnSpc>
                <a:spcPts val="3220"/>
              </a:lnSpc>
            </a:pPr>
            <a:r>
              <a:rPr lang="en-US" sz="2300" b="true">
                <a:solidFill>
                  <a:srgbClr val="000000"/>
                </a:solidFill>
                <a:latin typeface="Canva Sans Bold"/>
                <a:ea typeface="Canva Sans Bold"/>
                <a:cs typeface="Canva Sans Bold"/>
                <a:sym typeface="Canva Sans Bold"/>
              </a:rPr>
              <a:t>The OW</a:t>
            </a:r>
            <a:r>
              <a:rPr lang="en-US" b="true" sz="2300">
                <a:solidFill>
                  <a:srgbClr val="000000"/>
                </a:solidFill>
                <a:latin typeface="Canva Sans Bold"/>
                <a:ea typeface="Canva Sans Bold"/>
                <a:cs typeface="Canva Sans Bold"/>
                <a:sym typeface="Canva Sans Bold"/>
              </a:rPr>
              <a:t>ASP Top 10 is the organization's flagship awareness document, representing a broad consensus among security experts about the most critical security risks facing web applications. It is not an exhaustive list of all vulnerabilities but a vital guide for developers, security professionals, and organizations to prioritize their security efforts and allocate resources to mitigate the most prevalent and high-impact threats, making it the essential first step in any application security program.</a:t>
            </a:r>
          </a:p>
        </p:txBody>
      </p:sp>
      <p:sp>
        <p:nvSpPr>
          <p:cNvPr name="TextBox 5" id="5"/>
          <p:cNvSpPr txBox="true"/>
          <p:nvPr/>
        </p:nvSpPr>
        <p:spPr>
          <a:xfrm rot="0">
            <a:off x="464375" y="4257178"/>
            <a:ext cx="8187261" cy="3989704"/>
          </a:xfrm>
          <a:prstGeom prst="rect">
            <a:avLst/>
          </a:prstGeom>
        </p:spPr>
        <p:txBody>
          <a:bodyPr anchor="t" rtlCol="false" tIns="0" lIns="0" bIns="0" rIns="0">
            <a:spAutoFit/>
          </a:bodyPr>
          <a:lstStyle/>
          <a:p>
            <a:pPr algn="l">
              <a:lnSpc>
                <a:spcPts val="3220"/>
              </a:lnSpc>
            </a:pPr>
            <a:r>
              <a:rPr lang="en-US" sz="2300" b="true">
                <a:solidFill>
                  <a:srgbClr val="000000"/>
                </a:solidFill>
                <a:latin typeface="Canva Sans Bold"/>
                <a:ea typeface="Canva Sans Bold"/>
                <a:cs typeface="Canva Sans Bold"/>
                <a:sym typeface="Canva Sans Bold"/>
              </a:rPr>
              <a:t>The Open Worldwide </a:t>
            </a:r>
            <a:r>
              <a:rPr lang="en-US" b="true" sz="2300">
                <a:solidFill>
                  <a:srgbClr val="000000"/>
                </a:solidFill>
                <a:latin typeface="Canva Sans Bold"/>
                <a:ea typeface="Canva Sans Bold"/>
                <a:cs typeface="Canva Sans Bold"/>
                <a:sym typeface="Canva Sans Bold"/>
              </a:rPr>
              <a:t>Application Security Project (OWASP) is a non-profit foundation that works to improve software security through a community-driven, open-source approach. Its mission is to make application security visible, allowing organizations and developers to make educated risk decisions. OWASP achieves this by providing free, world-class educational materials, methodologies, documentation, and tools, effectively serving as the global standard-bearer for application security knowledge and best practices.</a:t>
            </a:r>
          </a:p>
        </p:txBody>
      </p:sp>
      <p:sp>
        <p:nvSpPr>
          <p:cNvPr name="TextBox 6" id="6"/>
          <p:cNvSpPr txBox="true"/>
          <p:nvPr/>
        </p:nvSpPr>
        <p:spPr>
          <a:xfrm rot="0">
            <a:off x="16486505" y="990600"/>
            <a:ext cx="772795" cy="339725"/>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Garet Bold"/>
                <a:ea typeface="Garet Bold"/>
                <a:cs typeface="Garet Bold"/>
                <a:sym typeface="Garet Bold"/>
              </a:rPr>
              <a:t>04/10</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3364" r="0" b="-3364"/>
              </a:stretch>
            </a:blipFill>
          </p:spPr>
        </p:sp>
      </p:grpSp>
      <p:grpSp>
        <p:nvGrpSpPr>
          <p:cNvPr name="Group 4" id="4"/>
          <p:cNvGrpSpPr/>
          <p:nvPr/>
        </p:nvGrpSpPr>
        <p:grpSpPr>
          <a:xfrm rot="0">
            <a:off x="-589896" y="8801096"/>
            <a:ext cx="18882658" cy="9525"/>
            <a:chOff x="0" y="0"/>
            <a:chExt cx="25176877" cy="12700"/>
          </a:xfrm>
        </p:grpSpPr>
        <p:sp>
          <p:nvSpPr>
            <p:cNvPr name="Freeform 5" id="5"/>
            <p:cNvSpPr/>
            <p:nvPr/>
          </p:nvSpPr>
          <p:spPr>
            <a:xfrm flipH="false" flipV="false" rot="0">
              <a:off x="0" y="0"/>
              <a:ext cx="25176862" cy="12700"/>
            </a:xfrm>
            <a:custGeom>
              <a:avLst/>
              <a:gdLst/>
              <a:ahLst/>
              <a:cxnLst/>
              <a:rect r="r" b="b" t="t" l="l"/>
              <a:pathLst>
                <a:path h="12700" w="25176862">
                  <a:moveTo>
                    <a:pt x="6350" y="0"/>
                  </a:moveTo>
                  <a:lnTo>
                    <a:pt x="25170512" y="0"/>
                  </a:lnTo>
                  <a:cubicBezTo>
                    <a:pt x="25174068" y="0"/>
                    <a:pt x="25176862" y="2794"/>
                    <a:pt x="25176862" y="6350"/>
                  </a:cubicBezTo>
                  <a:cubicBezTo>
                    <a:pt x="25176862" y="9906"/>
                    <a:pt x="25174068" y="12700"/>
                    <a:pt x="25170512" y="12700"/>
                  </a:cubicBezTo>
                  <a:lnTo>
                    <a:pt x="6350" y="12700"/>
                  </a:lnTo>
                  <a:cubicBezTo>
                    <a:pt x="2794" y="12700"/>
                    <a:pt x="0" y="9906"/>
                    <a:pt x="0" y="6350"/>
                  </a:cubicBezTo>
                  <a:cubicBezTo>
                    <a:pt x="0" y="2794"/>
                    <a:pt x="2794" y="0"/>
                    <a:pt x="6350" y="0"/>
                  </a:cubicBezTo>
                  <a:close/>
                </a:path>
              </a:pathLst>
            </a:custGeom>
            <a:solidFill>
              <a:srgbClr val="000000"/>
            </a:solidFill>
            <a:ln w="12700">
              <a:solidFill>
                <a:srgbClr val="000000"/>
              </a:solidFill>
            </a:ln>
          </p:spPr>
        </p:sp>
      </p:grpSp>
      <p:grpSp>
        <p:nvGrpSpPr>
          <p:cNvPr name="Group 6" id="6"/>
          <p:cNvGrpSpPr/>
          <p:nvPr/>
        </p:nvGrpSpPr>
        <p:grpSpPr>
          <a:xfrm rot="0">
            <a:off x="-589896" y="9329738"/>
            <a:ext cx="18882658" cy="9525"/>
            <a:chOff x="0" y="0"/>
            <a:chExt cx="25176877" cy="12700"/>
          </a:xfrm>
        </p:grpSpPr>
        <p:sp>
          <p:nvSpPr>
            <p:cNvPr name="Freeform 7" id="7"/>
            <p:cNvSpPr/>
            <p:nvPr/>
          </p:nvSpPr>
          <p:spPr>
            <a:xfrm flipH="false" flipV="false" rot="0">
              <a:off x="0" y="0"/>
              <a:ext cx="25176862" cy="12700"/>
            </a:xfrm>
            <a:custGeom>
              <a:avLst/>
              <a:gdLst/>
              <a:ahLst/>
              <a:cxnLst/>
              <a:rect r="r" b="b" t="t" l="l"/>
              <a:pathLst>
                <a:path h="12700" w="25176862">
                  <a:moveTo>
                    <a:pt x="6350" y="0"/>
                  </a:moveTo>
                  <a:lnTo>
                    <a:pt x="25170512" y="0"/>
                  </a:lnTo>
                  <a:cubicBezTo>
                    <a:pt x="25174068" y="0"/>
                    <a:pt x="25176862" y="2794"/>
                    <a:pt x="25176862" y="6350"/>
                  </a:cubicBezTo>
                  <a:cubicBezTo>
                    <a:pt x="25176862" y="9906"/>
                    <a:pt x="25174068" y="12700"/>
                    <a:pt x="25170512" y="12700"/>
                  </a:cubicBezTo>
                  <a:lnTo>
                    <a:pt x="6350" y="12700"/>
                  </a:lnTo>
                  <a:cubicBezTo>
                    <a:pt x="2794" y="12700"/>
                    <a:pt x="0" y="9906"/>
                    <a:pt x="0" y="6350"/>
                  </a:cubicBezTo>
                  <a:cubicBezTo>
                    <a:pt x="0" y="2794"/>
                    <a:pt x="2794" y="0"/>
                    <a:pt x="6350" y="0"/>
                  </a:cubicBezTo>
                  <a:close/>
                </a:path>
              </a:pathLst>
            </a:custGeom>
            <a:solidFill>
              <a:srgbClr val="000000"/>
            </a:solidFill>
            <a:ln w="12700">
              <a:solidFill>
                <a:srgbClr val="000000"/>
              </a:solidFill>
            </a:ln>
          </p:spPr>
        </p:sp>
      </p:grpSp>
      <p:sp>
        <p:nvSpPr>
          <p:cNvPr name="Freeform 8" id="8"/>
          <p:cNvSpPr/>
          <p:nvPr/>
        </p:nvSpPr>
        <p:spPr>
          <a:xfrm flipH="false" flipV="false" rot="0">
            <a:off x="1765010" y="6894437"/>
            <a:ext cx="1672526" cy="702461"/>
          </a:xfrm>
          <a:custGeom>
            <a:avLst/>
            <a:gdLst/>
            <a:ahLst/>
            <a:cxnLst/>
            <a:rect r="r" b="b" t="t" l="l"/>
            <a:pathLst>
              <a:path h="702461" w="1672526">
                <a:moveTo>
                  <a:pt x="0" y="0"/>
                </a:moveTo>
                <a:lnTo>
                  <a:pt x="1672526" y="0"/>
                </a:lnTo>
                <a:lnTo>
                  <a:pt x="1672526" y="702461"/>
                </a:lnTo>
                <a:lnTo>
                  <a:pt x="0" y="702461"/>
                </a:lnTo>
                <a:lnTo>
                  <a:pt x="0" y="0"/>
                </a:lnTo>
                <a:close/>
              </a:path>
            </a:pathLst>
          </a:custGeom>
          <a:blipFill>
            <a:blip r:embed="rId3">
              <a:extLst>
                <a:ext uri="{96DAC541-7B7A-43D3-8B79-37D633B846F1}">
                  <asvg:svgBlip xmlns:asvg="http://schemas.microsoft.com/office/drawing/2016/SVG/main" r:embed="rId4"/>
                </a:ext>
              </a:extLst>
            </a:blip>
            <a:stretch>
              <a:fillRect l="0" t="-54" r="0" b="-54"/>
            </a:stretch>
          </a:blipFill>
        </p:spPr>
      </p:sp>
      <p:sp>
        <p:nvSpPr>
          <p:cNvPr name="Freeform 9" id="9"/>
          <p:cNvSpPr/>
          <p:nvPr/>
        </p:nvSpPr>
        <p:spPr>
          <a:xfrm flipH="false" flipV="false" rot="0">
            <a:off x="5384684" y="6840111"/>
            <a:ext cx="1672526" cy="702461"/>
          </a:xfrm>
          <a:custGeom>
            <a:avLst/>
            <a:gdLst/>
            <a:ahLst/>
            <a:cxnLst/>
            <a:rect r="r" b="b" t="t" l="l"/>
            <a:pathLst>
              <a:path h="702461" w="1672526">
                <a:moveTo>
                  <a:pt x="0" y="0"/>
                </a:moveTo>
                <a:lnTo>
                  <a:pt x="1672526" y="0"/>
                </a:lnTo>
                <a:lnTo>
                  <a:pt x="1672526" y="702461"/>
                </a:lnTo>
                <a:lnTo>
                  <a:pt x="0" y="702461"/>
                </a:lnTo>
                <a:lnTo>
                  <a:pt x="0" y="0"/>
                </a:lnTo>
                <a:close/>
              </a:path>
            </a:pathLst>
          </a:custGeom>
          <a:blipFill>
            <a:blip r:embed="rId3">
              <a:extLst>
                <a:ext uri="{96DAC541-7B7A-43D3-8B79-37D633B846F1}">
                  <asvg:svgBlip xmlns:asvg="http://schemas.microsoft.com/office/drawing/2016/SVG/main" r:embed="rId4"/>
                </a:ext>
              </a:extLst>
            </a:blip>
            <a:stretch>
              <a:fillRect l="0" t="-54" r="0" b="-54"/>
            </a:stretch>
          </a:blipFill>
        </p:spPr>
      </p:sp>
      <p:sp>
        <p:nvSpPr>
          <p:cNvPr name="Freeform 10" id="10"/>
          <p:cNvSpPr/>
          <p:nvPr/>
        </p:nvSpPr>
        <p:spPr>
          <a:xfrm flipH="false" flipV="false" rot="0">
            <a:off x="9719468" y="6836455"/>
            <a:ext cx="1672526" cy="702461"/>
          </a:xfrm>
          <a:custGeom>
            <a:avLst/>
            <a:gdLst/>
            <a:ahLst/>
            <a:cxnLst/>
            <a:rect r="r" b="b" t="t" l="l"/>
            <a:pathLst>
              <a:path h="702461" w="1672526">
                <a:moveTo>
                  <a:pt x="0" y="0"/>
                </a:moveTo>
                <a:lnTo>
                  <a:pt x="1672526" y="0"/>
                </a:lnTo>
                <a:lnTo>
                  <a:pt x="1672526" y="702461"/>
                </a:lnTo>
                <a:lnTo>
                  <a:pt x="0" y="702461"/>
                </a:lnTo>
                <a:lnTo>
                  <a:pt x="0" y="0"/>
                </a:lnTo>
                <a:close/>
              </a:path>
            </a:pathLst>
          </a:custGeom>
          <a:blipFill>
            <a:blip r:embed="rId3">
              <a:extLst>
                <a:ext uri="{96DAC541-7B7A-43D3-8B79-37D633B846F1}">
                  <asvg:svgBlip xmlns:asvg="http://schemas.microsoft.com/office/drawing/2016/SVG/main" r:embed="rId4"/>
                </a:ext>
              </a:extLst>
            </a:blip>
            <a:stretch>
              <a:fillRect l="0" t="-54" r="0" b="-54"/>
            </a:stretch>
          </a:blipFill>
        </p:spPr>
      </p:sp>
      <p:sp>
        <p:nvSpPr>
          <p:cNvPr name="Freeform 11" id="11"/>
          <p:cNvSpPr/>
          <p:nvPr/>
        </p:nvSpPr>
        <p:spPr>
          <a:xfrm flipH="false" flipV="false" rot="-10800000">
            <a:off x="11159450" y="-140976"/>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159" t="0" r="-159" b="0"/>
            </a:stretch>
          </a:blipFill>
        </p:spPr>
      </p:sp>
      <p:sp>
        <p:nvSpPr>
          <p:cNvPr name="TextBox 12" id="12"/>
          <p:cNvSpPr txBox="true"/>
          <p:nvPr/>
        </p:nvSpPr>
        <p:spPr>
          <a:xfrm rot="0">
            <a:off x="301926" y="930767"/>
            <a:ext cx="5814214" cy="551390"/>
          </a:xfrm>
          <a:prstGeom prst="rect">
            <a:avLst/>
          </a:prstGeom>
        </p:spPr>
        <p:txBody>
          <a:bodyPr anchor="t" rtlCol="false" tIns="0" lIns="0" bIns="0" rIns="0">
            <a:spAutoFit/>
          </a:bodyPr>
          <a:lstStyle/>
          <a:p>
            <a:pPr algn="l">
              <a:lnSpc>
                <a:spcPts val="4639"/>
              </a:lnSpc>
            </a:pPr>
            <a:r>
              <a:rPr lang="en-US" sz="4639" spc="-365">
                <a:solidFill>
                  <a:srgbClr val="000000"/>
                </a:solidFill>
                <a:latin typeface="Archivo Black"/>
                <a:ea typeface="Archivo Black"/>
                <a:cs typeface="Archivo Black"/>
                <a:sym typeface="Archivo Black"/>
              </a:rPr>
              <a:t>Vulnerabilities</a:t>
            </a:r>
          </a:p>
        </p:txBody>
      </p:sp>
      <p:sp>
        <p:nvSpPr>
          <p:cNvPr name="TextBox 13" id="13"/>
          <p:cNvSpPr txBox="true"/>
          <p:nvPr/>
        </p:nvSpPr>
        <p:spPr>
          <a:xfrm rot="0">
            <a:off x="14382445" y="933450"/>
            <a:ext cx="2876855" cy="365735"/>
          </a:xfrm>
          <a:prstGeom prst="rect">
            <a:avLst/>
          </a:prstGeom>
        </p:spPr>
        <p:txBody>
          <a:bodyPr anchor="t" rtlCol="false" tIns="0" lIns="0" bIns="0" rIns="0">
            <a:spAutoFit/>
          </a:bodyPr>
          <a:lstStyle/>
          <a:p>
            <a:pPr algn="r">
              <a:lnSpc>
                <a:spcPts val="2939"/>
              </a:lnSpc>
            </a:pPr>
            <a:r>
              <a:rPr lang="en-US" sz="2099" b="true">
                <a:solidFill>
                  <a:srgbClr val="000000"/>
                </a:solidFill>
                <a:latin typeface="Garet Bold"/>
                <a:ea typeface="Garet Bold"/>
                <a:cs typeface="Garet Bold"/>
                <a:sym typeface="Garet Bold"/>
              </a:rPr>
              <a:t>05/10</a:t>
            </a:r>
          </a:p>
        </p:txBody>
      </p:sp>
      <p:sp>
        <p:nvSpPr>
          <p:cNvPr name="TextBox 14" id="14"/>
          <p:cNvSpPr txBox="true"/>
          <p:nvPr/>
        </p:nvSpPr>
        <p:spPr>
          <a:xfrm rot="0">
            <a:off x="697774" y="7965345"/>
            <a:ext cx="3806998" cy="485775"/>
          </a:xfrm>
          <a:prstGeom prst="rect">
            <a:avLst/>
          </a:prstGeom>
        </p:spPr>
        <p:txBody>
          <a:bodyPr anchor="t" rtlCol="false" tIns="0" lIns="0" bIns="0" rIns="0">
            <a:spAutoFit/>
          </a:bodyPr>
          <a:lstStyle/>
          <a:p>
            <a:pPr algn="ctr">
              <a:lnSpc>
                <a:spcPts val="3840"/>
              </a:lnSpc>
            </a:pPr>
            <a:r>
              <a:rPr lang="en-US" sz="3200" b="true">
                <a:solidFill>
                  <a:srgbClr val="000000"/>
                </a:solidFill>
                <a:latin typeface="Garet Bold"/>
                <a:ea typeface="Garet Bold"/>
                <a:cs typeface="Garet Bold"/>
                <a:sym typeface="Garet Bold"/>
              </a:rPr>
              <a:t># 1</a:t>
            </a:r>
          </a:p>
        </p:txBody>
      </p:sp>
      <p:sp>
        <p:nvSpPr>
          <p:cNvPr name="TextBox 15" id="15"/>
          <p:cNvSpPr txBox="true"/>
          <p:nvPr/>
        </p:nvSpPr>
        <p:spPr>
          <a:xfrm rot="0">
            <a:off x="4317448" y="7911019"/>
            <a:ext cx="3806998" cy="485775"/>
          </a:xfrm>
          <a:prstGeom prst="rect">
            <a:avLst/>
          </a:prstGeom>
        </p:spPr>
        <p:txBody>
          <a:bodyPr anchor="t" rtlCol="false" tIns="0" lIns="0" bIns="0" rIns="0">
            <a:spAutoFit/>
          </a:bodyPr>
          <a:lstStyle/>
          <a:p>
            <a:pPr algn="ctr">
              <a:lnSpc>
                <a:spcPts val="3840"/>
              </a:lnSpc>
            </a:pPr>
            <a:r>
              <a:rPr lang="en-US" sz="3200" b="true">
                <a:solidFill>
                  <a:srgbClr val="000000"/>
                </a:solidFill>
                <a:latin typeface="Garet Bold"/>
                <a:ea typeface="Garet Bold"/>
                <a:cs typeface="Garet Bold"/>
                <a:sym typeface="Garet Bold"/>
              </a:rPr>
              <a:t># 2</a:t>
            </a:r>
          </a:p>
        </p:txBody>
      </p:sp>
      <p:sp>
        <p:nvSpPr>
          <p:cNvPr name="TextBox 16" id="16"/>
          <p:cNvSpPr txBox="true"/>
          <p:nvPr/>
        </p:nvSpPr>
        <p:spPr>
          <a:xfrm rot="0">
            <a:off x="607444" y="8720644"/>
            <a:ext cx="3987659" cy="488290"/>
          </a:xfrm>
          <a:prstGeom prst="rect">
            <a:avLst/>
          </a:prstGeom>
        </p:spPr>
        <p:txBody>
          <a:bodyPr anchor="t" rtlCol="false" tIns="0" lIns="0" bIns="0" rIns="0">
            <a:spAutoFit/>
          </a:bodyPr>
          <a:lstStyle/>
          <a:p>
            <a:pPr algn="ctr">
              <a:lnSpc>
                <a:spcPts val="4058"/>
              </a:lnSpc>
            </a:pPr>
            <a:r>
              <a:rPr lang="en-US" sz="2899">
                <a:solidFill>
                  <a:srgbClr val="000000"/>
                </a:solidFill>
                <a:latin typeface="Garet"/>
                <a:ea typeface="Garet"/>
                <a:cs typeface="Garet"/>
                <a:sym typeface="Garet"/>
              </a:rPr>
              <a:t>Cross-Site Scripting</a:t>
            </a:r>
          </a:p>
        </p:txBody>
      </p:sp>
      <p:sp>
        <p:nvSpPr>
          <p:cNvPr name="TextBox 17" id="17"/>
          <p:cNvSpPr txBox="true"/>
          <p:nvPr/>
        </p:nvSpPr>
        <p:spPr>
          <a:xfrm rot="0">
            <a:off x="4966857" y="8720644"/>
            <a:ext cx="2508180" cy="488290"/>
          </a:xfrm>
          <a:prstGeom prst="rect">
            <a:avLst/>
          </a:prstGeom>
        </p:spPr>
        <p:txBody>
          <a:bodyPr anchor="t" rtlCol="false" tIns="0" lIns="0" bIns="0" rIns="0">
            <a:spAutoFit/>
          </a:bodyPr>
          <a:lstStyle/>
          <a:p>
            <a:pPr algn="ctr">
              <a:lnSpc>
                <a:spcPts val="4058"/>
              </a:lnSpc>
            </a:pPr>
            <a:r>
              <a:rPr lang="en-US" sz="2899">
                <a:solidFill>
                  <a:srgbClr val="000000"/>
                </a:solidFill>
                <a:latin typeface="Garet"/>
                <a:ea typeface="Garet"/>
                <a:cs typeface="Garet"/>
                <a:sym typeface="Garet"/>
              </a:rPr>
              <a:t>SQL Injection</a:t>
            </a:r>
          </a:p>
        </p:txBody>
      </p:sp>
      <p:sp>
        <p:nvSpPr>
          <p:cNvPr name="TextBox 18" id="18"/>
          <p:cNvSpPr txBox="true"/>
          <p:nvPr/>
        </p:nvSpPr>
        <p:spPr>
          <a:xfrm rot="0">
            <a:off x="8652232" y="7853037"/>
            <a:ext cx="3806998" cy="485775"/>
          </a:xfrm>
          <a:prstGeom prst="rect">
            <a:avLst/>
          </a:prstGeom>
        </p:spPr>
        <p:txBody>
          <a:bodyPr anchor="t" rtlCol="false" tIns="0" lIns="0" bIns="0" rIns="0">
            <a:spAutoFit/>
          </a:bodyPr>
          <a:lstStyle/>
          <a:p>
            <a:pPr algn="ctr">
              <a:lnSpc>
                <a:spcPts val="3840"/>
              </a:lnSpc>
            </a:pPr>
            <a:r>
              <a:rPr lang="en-US" sz="3200" b="true">
                <a:solidFill>
                  <a:srgbClr val="000000"/>
                </a:solidFill>
                <a:latin typeface="Garet Bold"/>
                <a:ea typeface="Garet Bold"/>
                <a:cs typeface="Garet Bold"/>
                <a:sym typeface="Garet Bold"/>
              </a:rPr>
              <a:t># 3</a:t>
            </a:r>
          </a:p>
        </p:txBody>
      </p:sp>
      <p:sp>
        <p:nvSpPr>
          <p:cNvPr name="TextBox 19" id="19"/>
          <p:cNvSpPr txBox="true"/>
          <p:nvPr/>
        </p:nvSpPr>
        <p:spPr>
          <a:xfrm rot="0">
            <a:off x="8652232" y="8678512"/>
            <a:ext cx="3852679" cy="488290"/>
          </a:xfrm>
          <a:prstGeom prst="rect">
            <a:avLst/>
          </a:prstGeom>
        </p:spPr>
        <p:txBody>
          <a:bodyPr anchor="t" rtlCol="false" tIns="0" lIns="0" bIns="0" rIns="0">
            <a:spAutoFit/>
          </a:bodyPr>
          <a:lstStyle/>
          <a:p>
            <a:pPr algn="ctr">
              <a:lnSpc>
                <a:spcPts val="4058"/>
              </a:lnSpc>
            </a:pPr>
            <a:r>
              <a:rPr lang="en-US" sz="2899">
                <a:solidFill>
                  <a:srgbClr val="000000"/>
                </a:solidFill>
                <a:latin typeface="Garet"/>
                <a:ea typeface="Garet"/>
                <a:cs typeface="Garet"/>
                <a:sym typeface="Garet"/>
              </a:rPr>
              <a:t>Block Path Traversal</a:t>
            </a:r>
          </a:p>
        </p:txBody>
      </p:sp>
      <p:sp>
        <p:nvSpPr>
          <p:cNvPr name="Freeform 20" id="20"/>
          <p:cNvSpPr/>
          <p:nvPr/>
        </p:nvSpPr>
        <p:spPr>
          <a:xfrm flipH="false" flipV="false" rot="0">
            <a:off x="14066549" y="6745754"/>
            <a:ext cx="1672526" cy="702461"/>
          </a:xfrm>
          <a:custGeom>
            <a:avLst/>
            <a:gdLst/>
            <a:ahLst/>
            <a:cxnLst/>
            <a:rect r="r" b="b" t="t" l="l"/>
            <a:pathLst>
              <a:path h="702461" w="1672526">
                <a:moveTo>
                  <a:pt x="0" y="0"/>
                </a:moveTo>
                <a:lnTo>
                  <a:pt x="1672526" y="0"/>
                </a:lnTo>
                <a:lnTo>
                  <a:pt x="1672526" y="702461"/>
                </a:lnTo>
                <a:lnTo>
                  <a:pt x="0" y="702461"/>
                </a:lnTo>
                <a:lnTo>
                  <a:pt x="0" y="0"/>
                </a:lnTo>
                <a:close/>
              </a:path>
            </a:pathLst>
          </a:custGeom>
          <a:blipFill>
            <a:blip r:embed="rId3">
              <a:extLst>
                <a:ext uri="{96DAC541-7B7A-43D3-8B79-37D633B846F1}">
                  <asvg:svgBlip xmlns:asvg="http://schemas.microsoft.com/office/drawing/2016/SVG/main" r:embed="rId4"/>
                </a:ext>
              </a:extLst>
            </a:blip>
            <a:stretch>
              <a:fillRect l="0" t="-54" r="0" b="-54"/>
            </a:stretch>
          </a:blipFill>
        </p:spPr>
      </p:sp>
      <p:sp>
        <p:nvSpPr>
          <p:cNvPr name="TextBox 21" id="21"/>
          <p:cNvSpPr txBox="true"/>
          <p:nvPr/>
        </p:nvSpPr>
        <p:spPr>
          <a:xfrm rot="0">
            <a:off x="14569119" y="7724440"/>
            <a:ext cx="667385" cy="485775"/>
          </a:xfrm>
          <a:prstGeom prst="rect">
            <a:avLst/>
          </a:prstGeom>
        </p:spPr>
        <p:txBody>
          <a:bodyPr anchor="t" rtlCol="false" tIns="0" lIns="0" bIns="0" rIns="0">
            <a:spAutoFit/>
          </a:bodyPr>
          <a:lstStyle/>
          <a:p>
            <a:pPr algn="ctr">
              <a:lnSpc>
                <a:spcPts val="3840"/>
              </a:lnSpc>
            </a:pPr>
            <a:r>
              <a:rPr lang="en-US" sz="3200" b="true">
                <a:solidFill>
                  <a:srgbClr val="000000"/>
                </a:solidFill>
                <a:latin typeface="Garet Bold"/>
                <a:ea typeface="Garet Bold"/>
                <a:cs typeface="Garet Bold"/>
                <a:sym typeface="Garet Bold"/>
              </a:rPr>
              <a:t># 4</a:t>
            </a:r>
          </a:p>
        </p:txBody>
      </p:sp>
      <p:sp>
        <p:nvSpPr>
          <p:cNvPr name="TextBox 22" id="22"/>
          <p:cNvSpPr txBox="true"/>
          <p:nvPr/>
        </p:nvSpPr>
        <p:spPr>
          <a:xfrm rot="0">
            <a:off x="13028787" y="8443456"/>
            <a:ext cx="3748050" cy="1002640"/>
          </a:xfrm>
          <a:prstGeom prst="rect">
            <a:avLst/>
          </a:prstGeom>
        </p:spPr>
        <p:txBody>
          <a:bodyPr anchor="t" rtlCol="false" tIns="0" lIns="0" bIns="0" rIns="0">
            <a:spAutoFit/>
          </a:bodyPr>
          <a:lstStyle/>
          <a:p>
            <a:pPr algn="ctr">
              <a:lnSpc>
                <a:spcPts val="4058"/>
              </a:lnSpc>
            </a:pPr>
            <a:r>
              <a:rPr lang="en-US" sz="2899">
                <a:solidFill>
                  <a:srgbClr val="000000"/>
                </a:solidFill>
                <a:latin typeface="Garet"/>
                <a:ea typeface="Garet"/>
                <a:cs typeface="Garet"/>
                <a:sym typeface="Garet"/>
              </a:rPr>
              <a:t>Serverside Request Foregery</a:t>
            </a:r>
          </a:p>
        </p:txBody>
      </p:sp>
      <p:sp>
        <p:nvSpPr>
          <p:cNvPr name="TextBox 23" id="23"/>
          <p:cNvSpPr txBox="true"/>
          <p:nvPr/>
        </p:nvSpPr>
        <p:spPr>
          <a:xfrm rot="0">
            <a:off x="301926" y="2129857"/>
            <a:ext cx="9473082" cy="4939030"/>
          </a:xfrm>
          <a:prstGeom prst="rect">
            <a:avLst/>
          </a:prstGeom>
        </p:spPr>
        <p:txBody>
          <a:bodyPr anchor="t" rtlCol="false" tIns="0" lIns="0" bIns="0" rIns="0">
            <a:spAutoFit/>
          </a:bodyPr>
          <a:lstStyle/>
          <a:p>
            <a:pPr algn="l">
              <a:lnSpc>
                <a:spcPts val="3920"/>
              </a:lnSpc>
            </a:pPr>
            <a:r>
              <a:rPr lang="en-US" b="true" sz="2800">
                <a:solidFill>
                  <a:srgbClr val="000000"/>
                </a:solidFill>
                <a:latin typeface="Canva Sans Bold"/>
                <a:ea typeface="Canva Sans Bold"/>
                <a:cs typeface="Canva Sans Bold"/>
                <a:sym typeface="Canva Sans Bold"/>
              </a:rPr>
              <a:t>A vulnerability is a weakness in a web application’s code, design, or configuration that can be exploited by an attacker to gain unauthorized access, manipulate data, or disrupt the application’s normal behavior</a:t>
            </a:r>
          </a:p>
          <a:p>
            <a:pPr algn="l">
              <a:lnSpc>
                <a:spcPts val="3920"/>
              </a:lnSpc>
            </a:pPr>
          </a:p>
          <a:p>
            <a:pPr algn="l">
              <a:lnSpc>
                <a:spcPts val="3920"/>
              </a:lnSpc>
            </a:pPr>
            <a:r>
              <a:rPr lang="en-US" b="true" sz="2800">
                <a:solidFill>
                  <a:srgbClr val="000000"/>
                </a:solidFill>
                <a:latin typeface="Canva Sans Bold"/>
                <a:ea typeface="Canva Sans Bold"/>
                <a:cs typeface="Canva Sans Bold"/>
                <a:sym typeface="Canva Sans Bold"/>
              </a:rPr>
              <a:t>For example, an attacker could exploit a vulnerability to steal users’ login credentials or cookies session IDs using exploits like XSS (Cross-site scripting)</a:t>
            </a:r>
          </a:p>
          <a:p>
            <a:pPr algn="l">
              <a:lnSpc>
                <a:spcPts val="3920"/>
              </a:lnSpc>
            </a:pPr>
          </a:p>
          <a:p>
            <a:pPr algn="l">
              <a:lnSpc>
                <a:spcPts val="3920"/>
              </a:lnSpc>
            </a:pPr>
          </a:p>
        </p:txBody>
      </p:sp>
      <p:sp>
        <p:nvSpPr>
          <p:cNvPr name="AutoShape 24" id="24"/>
          <p:cNvSpPr/>
          <p:nvPr/>
        </p:nvSpPr>
        <p:spPr>
          <a:xfrm>
            <a:off x="-8831887" y="2086994"/>
            <a:ext cx="18873133" cy="0"/>
          </a:xfrm>
          <a:prstGeom prst="line">
            <a:avLst/>
          </a:prstGeom>
          <a:ln cap="rnd" w="9525">
            <a:solidFill>
              <a:srgbClr val="000000"/>
            </a:solidFill>
            <a:prstDash val="solid"/>
            <a:headEnd type="none" len="sm" w="sm"/>
            <a:tailEnd type="none" len="sm" w="sm"/>
          </a:ln>
        </p:spPr>
      </p:sp>
      <p:sp>
        <p:nvSpPr>
          <p:cNvPr name="AutoShape 25" id="25"/>
          <p:cNvSpPr/>
          <p:nvPr/>
        </p:nvSpPr>
        <p:spPr>
          <a:xfrm>
            <a:off x="-8831887" y="1782194"/>
            <a:ext cx="18873133" cy="0"/>
          </a:xfrm>
          <a:prstGeom prst="line">
            <a:avLst/>
          </a:prstGeom>
          <a:ln cap="rnd" w="9525">
            <a:solidFill>
              <a:srgbClr val="000000"/>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3364" r="0" b="-3364"/>
              </a:stretch>
            </a:blipFill>
          </p:spPr>
        </p:sp>
      </p:grpSp>
      <p:sp>
        <p:nvSpPr>
          <p:cNvPr name="Freeform 4" id="4"/>
          <p:cNvSpPr/>
          <p:nvPr/>
        </p:nvSpPr>
        <p:spPr>
          <a:xfrm flipH="false" flipV="false" rot="0">
            <a:off x="307601" y="764995"/>
            <a:ext cx="3802877" cy="1486579"/>
          </a:xfrm>
          <a:custGeom>
            <a:avLst/>
            <a:gdLst/>
            <a:ahLst/>
            <a:cxnLst/>
            <a:rect r="r" b="b" t="t" l="l"/>
            <a:pathLst>
              <a:path h="1486579" w="3802877">
                <a:moveTo>
                  <a:pt x="0" y="0"/>
                </a:moveTo>
                <a:lnTo>
                  <a:pt x="3802877" y="0"/>
                </a:lnTo>
                <a:lnTo>
                  <a:pt x="3802877" y="1486579"/>
                </a:lnTo>
                <a:lnTo>
                  <a:pt x="0" y="1486579"/>
                </a:lnTo>
                <a:lnTo>
                  <a:pt x="0" y="0"/>
                </a:lnTo>
                <a:close/>
              </a:path>
            </a:pathLst>
          </a:custGeom>
          <a:blipFill>
            <a:blip r:embed="rId3">
              <a:extLst>
                <a:ext uri="{96DAC541-7B7A-43D3-8B79-37D633B846F1}">
                  <asvg:svgBlip xmlns:asvg="http://schemas.microsoft.com/office/drawing/2016/SVG/main" r:embed="rId4"/>
                </a:ext>
              </a:extLst>
            </a:blip>
            <a:stretch>
              <a:fillRect l="0" t="-203" r="0" b="-203"/>
            </a:stretch>
          </a:blipFill>
        </p:spPr>
      </p:sp>
      <p:grpSp>
        <p:nvGrpSpPr>
          <p:cNvPr name="Group 5" id="5"/>
          <p:cNvGrpSpPr/>
          <p:nvPr/>
        </p:nvGrpSpPr>
        <p:grpSpPr>
          <a:xfrm rot="0">
            <a:off x="6446786" y="4511066"/>
            <a:ext cx="11301259" cy="5212706"/>
            <a:chOff x="0" y="0"/>
            <a:chExt cx="15068345" cy="6950275"/>
          </a:xfrm>
        </p:grpSpPr>
        <p:sp>
          <p:nvSpPr>
            <p:cNvPr name="Freeform 6" id="6"/>
            <p:cNvSpPr/>
            <p:nvPr/>
          </p:nvSpPr>
          <p:spPr>
            <a:xfrm flipH="false" flipV="false" rot="0">
              <a:off x="0" y="0"/>
              <a:ext cx="15068296" cy="6950329"/>
            </a:xfrm>
            <a:custGeom>
              <a:avLst/>
              <a:gdLst/>
              <a:ahLst/>
              <a:cxnLst/>
              <a:rect r="r" b="b" t="t" l="l"/>
              <a:pathLst>
                <a:path h="6950329" w="15068296">
                  <a:moveTo>
                    <a:pt x="0" y="0"/>
                  </a:moveTo>
                  <a:lnTo>
                    <a:pt x="15068296" y="0"/>
                  </a:lnTo>
                  <a:lnTo>
                    <a:pt x="15068296" y="6950329"/>
                  </a:lnTo>
                  <a:lnTo>
                    <a:pt x="0" y="6950329"/>
                  </a:lnTo>
                  <a:lnTo>
                    <a:pt x="0" y="0"/>
                  </a:lnTo>
                  <a:close/>
                </a:path>
              </a:pathLst>
            </a:custGeom>
            <a:blipFill>
              <a:blip r:embed="rId5"/>
              <a:stretch>
                <a:fillRect l="-28" t="0" r="-28" b="0"/>
              </a:stretch>
            </a:blipFill>
          </p:spPr>
        </p:sp>
      </p:grpSp>
      <p:sp>
        <p:nvSpPr>
          <p:cNvPr name="TextBox 7" id="7"/>
          <p:cNvSpPr txBox="true"/>
          <p:nvPr/>
        </p:nvSpPr>
        <p:spPr>
          <a:xfrm rot="0">
            <a:off x="307601" y="2840423"/>
            <a:ext cx="7203393" cy="690454"/>
          </a:xfrm>
          <a:prstGeom prst="rect">
            <a:avLst/>
          </a:prstGeom>
        </p:spPr>
        <p:txBody>
          <a:bodyPr anchor="t" rtlCol="false" tIns="0" lIns="0" bIns="0" rIns="0">
            <a:spAutoFit/>
          </a:bodyPr>
          <a:lstStyle/>
          <a:p>
            <a:pPr algn="ctr">
              <a:lnSpc>
                <a:spcPts val="5808"/>
              </a:lnSpc>
            </a:pPr>
            <a:r>
              <a:rPr lang="en-US" sz="5808" spc="-458">
                <a:solidFill>
                  <a:srgbClr val="000000"/>
                </a:solidFill>
                <a:latin typeface="Archivo Black"/>
                <a:ea typeface="Archivo Black"/>
                <a:cs typeface="Archivo Black"/>
                <a:sym typeface="Archivo Black"/>
              </a:rPr>
              <a:t>Cross-Site Scripting</a:t>
            </a:r>
          </a:p>
        </p:txBody>
      </p:sp>
      <p:sp>
        <p:nvSpPr>
          <p:cNvPr name="TextBox 8" id="8"/>
          <p:cNvSpPr txBox="true"/>
          <p:nvPr/>
        </p:nvSpPr>
        <p:spPr>
          <a:xfrm rot="0">
            <a:off x="12938218" y="933450"/>
            <a:ext cx="4321082" cy="365735"/>
          </a:xfrm>
          <a:prstGeom prst="rect">
            <a:avLst/>
          </a:prstGeom>
        </p:spPr>
        <p:txBody>
          <a:bodyPr anchor="t" rtlCol="false" tIns="0" lIns="0" bIns="0" rIns="0">
            <a:spAutoFit/>
          </a:bodyPr>
          <a:lstStyle/>
          <a:p>
            <a:pPr algn="r">
              <a:lnSpc>
                <a:spcPts val="2939"/>
              </a:lnSpc>
            </a:pPr>
            <a:r>
              <a:rPr lang="en-US" sz="2099" b="true">
                <a:solidFill>
                  <a:srgbClr val="000000"/>
                </a:solidFill>
                <a:latin typeface="Garet Bold"/>
                <a:ea typeface="Garet Bold"/>
                <a:cs typeface="Garet Bold"/>
                <a:sym typeface="Garet Bold"/>
              </a:rPr>
              <a:t>06/10</a:t>
            </a:r>
          </a:p>
        </p:txBody>
      </p:sp>
      <p:sp>
        <p:nvSpPr>
          <p:cNvPr name="TextBox 9" id="9"/>
          <p:cNvSpPr txBox="true"/>
          <p:nvPr/>
        </p:nvSpPr>
        <p:spPr>
          <a:xfrm rot="0">
            <a:off x="307601" y="4434866"/>
            <a:ext cx="5976270" cy="5463540"/>
          </a:xfrm>
          <a:prstGeom prst="rect">
            <a:avLst/>
          </a:prstGeom>
        </p:spPr>
        <p:txBody>
          <a:bodyPr anchor="t" rtlCol="false" tIns="0" lIns="0" bIns="0" rIns="0">
            <a:spAutoFit/>
          </a:bodyPr>
          <a:lstStyle/>
          <a:p>
            <a:pPr algn="l" marL="548518" indent="-182839" lvl="2">
              <a:lnSpc>
                <a:spcPts val="3359"/>
              </a:lnSpc>
              <a:buFont typeface="Arial"/>
              <a:buChar char="⚬"/>
            </a:pPr>
            <a:r>
              <a:rPr lang="en-US" b="true" sz="2399">
                <a:solidFill>
                  <a:srgbClr val="000000"/>
                </a:solidFill>
                <a:latin typeface="Garet Bold"/>
                <a:ea typeface="Garet Bold"/>
                <a:cs typeface="Garet Bold"/>
                <a:sym typeface="Garet Bold"/>
              </a:rPr>
              <a:t>Attacker injects malicious client-side scripts  into a web page viewed by another user.</a:t>
            </a:r>
          </a:p>
          <a:p>
            <a:pPr algn="l" marL="548518" indent="-182839" lvl="2">
              <a:lnSpc>
                <a:spcPts val="3359"/>
              </a:lnSpc>
            </a:pPr>
          </a:p>
          <a:p>
            <a:pPr algn="l" marL="548518" indent="-182839" lvl="2">
              <a:lnSpc>
                <a:spcPts val="3359"/>
              </a:lnSpc>
              <a:buFont typeface="Arial"/>
              <a:buChar char="⚬"/>
            </a:pPr>
            <a:r>
              <a:rPr lang="en-US" b="true" sz="2399">
                <a:solidFill>
                  <a:srgbClr val="000000"/>
                </a:solidFill>
                <a:latin typeface="Garet Bold"/>
                <a:ea typeface="Garet Bold"/>
                <a:cs typeface="Garet Bold"/>
                <a:sym typeface="Garet Bold"/>
              </a:rPr>
              <a:t>The application trusts user input too much. An attacker submits a script into a comment field, search bar, or URL parameter.</a:t>
            </a:r>
          </a:p>
          <a:p>
            <a:pPr algn="l" marL="548518" indent="-182839" lvl="2">
              <a:lnSpc>
                <a:spcPts val="3359"/>
              </a:lnSpc>
            </a:pPr>
          </a:p>
          <a:p>
            <a:pPr algn="l" marL="548518" indent="-182839" lvl="2">
              <a:lnSpc>
                <a:spcPts val="3359"/>
              </a:lnSpc>
              <a:buFont typeface="Arial"/>
              <a:buChar char="⚬"/>
            </a:pPr>
            <a:r>
              <a:rPr lang="en-US" b="true" sz="2399">
                <a:solidFill>
                  <a:srgbClr val="000000"/>
                </a:solidFill>
                <a:latin typeface="Garet Bold"/>
                <a:ea typeface="Garet Bold"/>
                <a:cs typeface="Garet Bold"/>
                <a:sym typeface="Garet Bold"/>
              </a:rPr>
              <a:t>Session hijacking, redirection to malicious sites, stealing cookies, or defacing a website.</a:t>
            </a:r>
          </a:p>
          <a:p>
            <a:pPr algn="l" marL="548518" indent="-182839" lvl="2">
              <a:lnSpc>
                <a:spcPts val="335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3364" r="0" b="-3364"/>
              </a:stretch>
            </a:blipFill>
          </p:spPr>
        </p:sp>
      </p:grpSp>
      <p:grpSp>
        <p:nvGrpSpPr>
          <p:cNvPr name="Group 4" id="4"/>
          <p:cNvGrpSpPr/>
          <p:nvPr/>
        </p:nvGrpSpPr>
        <p:grpSpPr>
          <a:xfrm rot="0">
            <a:off x="-589896" y="8801096"/>
            <a:ext cx="18882658" cy="9525"/>
            <a:chOff x="0" y="0"/>
            <a:chExt cx="25176877" cy="12700"/>
          </a:xfrm>
        </p:grpSpPr>
        <p:sp>
          <p:nvSpPr>
            <p:cNvPr name="Freeform 5" id="5"/>
            <p:cNvSpPr/>
            <p:nvPr/>
          </p:nvSpPr>
          <p:spPr>
            <a:xfrm flipH="false" flipV="false" rot="0">
              <a:off x="0" y="0"/>
              <a:ext cx="25176862" cy="12700"/>
            </a:xfrm>
            <a:custGeom>
              <a:avLst/>
              <a:gdLst/>
              <a:ahLst/>
              <a:cxnLst/>
              <a:rect r="r" b="b" t="t" l="l"/>
              <a:pathLst>
                <a:path h="12700" w="25176862">
                  <a:moveTo>
                    <a:pt x="6350" y="0"/>
                  </a:moveTo>
                  <a:lnTo>
                    <a:pt x="25170512" y="0"/>
                  </a:lnTo>
                  <a:cubicBezTo>
                    <a:pt x="25174068" y="0"/>
                    <a:pt x="25176862" y="2794"/>
                    <a:pt x="25176862" y="6350"/>
                  </a:cubicBezTo>
                  <a:cubicBezTo>
                    <a:pt x="25176862" y="9906"/>
                    <a:pt x="25174068" y="12700"/>
                    <a:pt x="25170512" y="12700"/>
                  </a:cubicBezTo>
                  <a:lnTo>
                    <a:pt x="6350" y="12700"/>
                  </a:lnTo>
                  <a:cubicBezTo>
                    <a:pt x="2794" y="12700"/>
                    <a:pt x="0" y="9906"/>
                    <a:pt x="0" y="6350"/>
                  </a:cubicBezTo>
                  <a:cubicBezTo>
                    <a:pt x="0" y="2794"/>
                    <a:pt x="2794" y="0"/>
                    <a:pt x="6350" y="0"/>
                  </a:cubicBezTo>
                  <a:close/>
                </a:path>
              </a:pathLst>
            </a:custGeom>
            <a:solidFill>
              <a:srgbClr val="000000"/>
            </a:solidFill>
            <a:ln w="12700">
              <a:solidFill>
                <a:srgbClr val="000000"/>
              </a:solidFill>
            </a:ln>
          </p:spPr>
        </p:sp>
      </p:grpSp>
      <p:grpSp>
        <p:nvGrpSpPr>
          <p:cNvPr name="Group 6" id="6"/>
          <p:cNvGrpSpPr/>
          <p:nvPr/>
        </p:nvGrpSpPr>
        <p:grpSpPr>
          <a:xfrm rot="0">
            <a:off x="-589896" y="9329738"/>
            <a:ext cx="18882658" cy="9525"/>
            <a:chOff x="0" y="0"/>
            <a:chExt cx="25176877" cy="12700"/>
          </a:xfrm>
        </p:grpSpPr>
        <p:sp>
          <p:nvSpPr>
            <p:cNvPr name="Freeform 7" id="7"/>
            <p:cNvSpPr/>
            <p:nvPr/>
          </p:nvSpPr>
          <p:spPr>
            <a:xfrm flipH="false" flipV="false" rot="0">
              <a:off x="0" y="0"/>
              <a:ext cx="25176862" cy="12700"/>
            </a:xfrm>
            <a:custGeom>
              <a:avLst/>
              <a:gdLst/>
              <a:ahLst/>
              <a:cxnLst/>
              <a:rect r="r" b="b" t="t" l="l"/>
              <a:pathLst>
                <a:path h="12700" w="25176862">
                  <a:moveTo>
                    <a:pt x="6350" y="0"/>
                  </a:moveTo>
                  <a:lnTo>
                    <a:pt x="25170512" y="0"/>
                  </a:lnTo>
                  <a:cubicBezTo>
                    <a:pt x="25174068" y="0"/>
                    <a:pt x="25176862" y="2794"/>
                    <a:pt x="25176862" y="6350"/>
                  </a:cubicBezTo>
                  <a:cubicBezTo>
                    <a:pt x="25176862" y="9906"/>
                    <a:pt x="25174068" y="12700"/>
                    <a:pt x="25170512" y="12700"/>
                  </a:cubicBezTo>
                  <a:lnTo>
                    <a:pt x="6350" y="12700"/>
                  </a:lnTo>
                  <a:cubicBezTo>
                    <a:pt x="2794" y="12700"/>
                    <a:pt x="0" y="9906"/>
                    <a:pt x="0" y="6350"/>
                  </a:cubicBezTo>
                  <a:cubicBezTo>
                    <a:pt x="0" y="2794"/>
                    <a:pt x="2794" y="0"/>
                    <a:pt x="6350" y="0"/>
                  </a:cubicBezTo>
                  <a:close/>
                </a:path>
              </a:pathLst>
            </a:custGeom>
            <a:solidFill>
              <a:srgbClr val="000000"/>
            </a:solidFill>
            <a:ln w="12700">
              <a:solidFill>
                <a:srgbClr val="000000"/>
              </a:solidFill>
            </a:ln>
          </p:spPr>
        </p:sp>
      </p:grpSp>
      <p:grpSp>
        <p:nvGrpSpPr>
          <p:cNvPr name="Group 8" id="8"/>
          <p:cNvGrpSpPr/>
          <p:nvPr/>
        </p:nvGrpSpPr>
        <p:grpSpPr>
          <a:xfrm rot="0">
            <a:off x="5876608" y="4169475"/>
            <a:ext cx="11920314" cy="4112508"/>
            <a:chOff x="0" y="0"/>
            <a:chExt cx="15893752" cy="5483344"/>
          </a:xfrm>
        </p:grpSpPr>
        <p:sp>
          <p:nvSpPr>
            <p:cNvPr name="Freeform 9" id="9"/>
            <p:cNvSpPr/>
            <p:nvPr/>
          </p:nvSpPr>
          <p:spPr>
            <a:xfrm flipH="false" flipV="false" rot="0">
              <a:off x="0" y="0"/>
              <a:ext cx="15893796" cy="5483352"/>
            </a:xfrm>
            <a:custGeom>
              <a:avLst/>
              <a:gdLst/>
              <a:ahLst/>
              <a:cxnLst/>
              <a:rect r="r" b="b" t="t" l="l"/>
              <a:pathLst>
                <a:path h="5483352" w="15893796">
                  <a:moveTo>
                    <a:pt x="0" y="0"/>
                  </a:moveTo>
                  <a:lnTo>
                    <a:pt x="15893796" y="0"/>
                  </a:lnTo>
                  <a:lnTo>
                    <a:pt x="15893796" y="5483352"/>
                  </a:lnTo>
                  <a:lnTo>
                    <a:pt x="0" y="5483352"/>
                  </a:lnTo>
                  <a:lnTo>
                    <a:pt x="0" y="0"/>
                  </a:lnTo>
                  <a:close/>
                </a:path>
              </a:pathLst>
            </a:custGeom>
            <a:blipFill>
              <a:blip r:embed="rId3"/>
              <a:stretch>
                <a:fillRect l="-35" t="0" r="-35" b="0"/>
              </a:stretch>
            </a:blipFill>
          </p:spPr>
        </p:sp>
      </p:grpSp>
      <p:sp>
        <p:nvSpPr>
          <p:cNvPr name="TextBox 10" id="10"/>
          <p:cNvSpPr txBox="true"/>
          <p:nvPr/>
        </p:nvSpPr>
        <p:spPr>
          <a:xfrm rot="0">
            <a:off x="220857" y="1537335"/>
            <a:ext cx="7203393" cy="69045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SQL Injection</a:t>
            </a:r>
          </a:p>
        </p:txBody>
      </p:sp>
      <p:sp>
        <p:nvSpPr>
          <p:cNvPr name="TextBox 11" id="11"/>
          <p:cNvSpPr txBox="true"/>
          <p:nvPr/>
        </p:nvSpPr>
        <p:spPr>
          <a:xfrm rot="0">
            <a:off x="12938218" y="933450"/>
            <a:ext cx="4321082" cy="365735"/>
          </a:xfrm>
          <a:prstGeom prst="rect">
            <a:avLst/>
          </a:prstGeom>
        </p:spPr>
        <p:txBody>
          <a:bodyPr anchor="t" rtlCol="false" tIns="0" lIns="0" bIns="0" rIns="0">
            <a:spAutoFit/>
          </a:bodyPr>
          <a:lstStyle/>
          <a:p>
            <a:pPr algn="r">
              <a:lnSpc>
                <a:spcPts val="2939"/>
              </a:lnSpc>
            </a:pPr>
            <a:r>
              <a:rPr lang="en-US" sz="2099" b="true">
                <a:solidFill>
                  <a:srgbClr val="000000"/>
                </a:solidFill>
                <a:latin typeface="Garet Bold"/>
                <a:ea typeface="Garet Bold"/>
                <a:cs typeface="Garet Bold"/>
                <a:sym typeface="Garet Bold"/>
              </a:rPr>
              <a:t>07/10</a:t>
            </a:r>
          </a:p>
        </p:txBody>
      </p:sp>
      <p:sp>
        <p:nvSpPr>
          <p:cNvPr name="TextBox 12" id="12"/>
          <p:cNvSpPr txBox="true"/>
          <p:nvPr/>
        </p:nvSpPr>
        <p:spPr>
          <a:xfrm rot="0">
            <a:off x="0" y="3327187"/>
            <a:ext cx="5361838" cy="5189830"/>
          </a:xfrm>
          <a:prstGeom prst="rect">
            <a:avLst/>
          </a:prstGeom>
        </p:spPr>
        <p:txBody>
          <a:bodyPr anchor="t" rtlCol="false" tIns="0" lIns="0" bIns="0" rIns="0">
            <a:spAutoFit/>
          </a:bodyPr>
          <a:lstStyle/>
          <a:p>
            <a:pPr algn="l" marL="525659" indent="-175220" lvl="2">
              <a:lnSpc>
                <a:spcPts val="3219"/>
              </a:lnSpc>
              <a:buFont typeface="Arial"/>
              <a:buChar char="⚬"/>
            </a:pPr>
            <a:r>
              <a:rPr lang="en-US" b="true" sz="2299">
                <a:solidFill>
                  <a:srgbClr val="000000"/>
                </a:solidFill>
                <a:latin typeface="Garet Bold"/>
                <a:ea typeface="Garet Bold"/>
                <a:cs typeface="Garet Bold"/>
                <a:sym typeface="Garet Bold"/>
              </a:rPr>
              <a:t>SQLi works by targeting a vulnerable Application Programming Interface or API. An API in this case is the software interface through which a server receives and responds to requests.</a:t>
            </a:r>
          </a:p>
          <a:p>
            <a:pPr algn="l" marL="525659" indent="-175220" lvl="2">
              <a:lnSpc>
                <a:spcPts val="3219"/>
              </a:lnSpc>
            </a:pPr>
          </a:p>
          <a:p>
            <a:pPr algn="l" marL="525659" indent="-175220" lvl="2">
              <a:lnSpc>
                <a:spcPts val="3219"/>
              </a:lnSpc>
              <a:buFont typeface="Arial"/>
              <a:buChar char="⚬"/>
            </a:pPr>
            <a:r>
              <a:rPr lang="en-US" b="true" sz="2299">
                <a:solidFill>
                  <a:srgbClr val="000000"/>
                </a:solidFill>
                <a:latin typeface="Garet Bold"/>
                <a:ea typeface="Garet Bold"/>
                <a:cs typeface="Garet Bold"/>
                <a:sym typeface="Garet Bold"/>
              </a:rPr>
              <a:t>Impact: View, modify, or delete sensitive data from the database, or even execute commands on the database server.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6192024" y="3406435"/>
            <a:ext cx="11703730" cy="5851865"/>
          </a:xfrm>
          <a:custGeom>
            <a:avLst/>
            <a:gdLst/>
            <a:ahLst/>
            <a:cxnLst/>
            <a:rect r="r" b="b" t="t" l="l"/>
            <a:pathLst>
              <a:path h="5851865" w="11703730">
                <a:moveTo>
                  <a:pt x="0" y="0"/>
                </a:moveTo>
                <a:lnTo>
                  <a:pt x="11703731" y="0"/>
                </a:lnTo>
                <a:lnTo>
                  <a:pt x="11703731" y="5851865"/>
                </a:lnTo>
                <a:lnTo>
                  <a:pt x="0" y="5851865"/>
                </a:lnTo>
                <a:lnTo>
                  <a:pt x="0" y="0"/>
                </a:lnTo>
                <a:close/>
              </a:path>
            </a:pathLst>
          </a:custGeom>
          <a:blipFill>
            <a:blip r:embed="rId3"/>
            <a:stretch>
              <a:fillRect l="0" t="0" r="0" b="0"/>
            </a:stretch>
          </a:blipFill>
        </p:spPr>
      </p:sp>
      <p:sp>
        <p:nvSpPr>
          <p:cNvPr name="Freeform 4" id="4"/>
          <p:cNvSpPr/>
          <p:nvPr/>
        </p:nvSpPr>
        <p:spPr>
          <a:xfrm flipH="false" flipV="false" rot="0">
            <a:off x="13487049" y="8505250"/>
            <a:ext cx="2008120" cy="1781750"/>
          </a:xfrm>
          <a:custGeom>
            <a:avLst/>
            <a:gdLst/>
            <a:ahLst/>
            <a:cxnLst/>
            <a:rect r="r" b="b" t="t" l="l"/>
            <a:pathLst>
              <a:path h="1781750" w="2008120">
                <a:moveTo>
                  <a:pt x="0" y="0"/>
                </a:moveTo>
                <a:lnTo>
                  <a:pt x="2008120" y="0"/>
                </a:lnTo>
                <a:lnTo>
                  <a:pt x="2008120" y="1781750"/>
                </a:lnTo>
                <a:lnTo>
                  <a:pt x="0" y="17817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534227" y="788911"/>
            <a:ext cx="4848066"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Garet Bold"/>
                <a:ea typeface="Garet Bold"/>
                <a:cs typeface="Garet Bold"/>
                <a:sym typeface="Garet Bold"/>
              </a:rPr>
              <a:t>Path Traversal</a:t>
            </a:r>
          </a:p>
        </p:txBody>
      </p:sp>
      <p:sp>
        <p:nvSpPr>
          <p:cNvPr name="TextBox 6" id="6"/>
          <p:cNvSpPr txBox="true"/>
          <p:nvPr/>
        </p:nvSpPr>
        <p:spPr>
          <a:xfrm rot="0">
            <a:off x="330492" y="2971630"/>
            <a:ext cx="4896361" cy="6230620"/>
          </a:xfrm>
          <a:prstGeom prst="rect">
            <a:avLst/>
          </a:prstGeom>
        </p:spPr>
        <p:txBody>
          <a:bodyPr anchor="t" rtlCol="false" tIns="0" lIns="0" bIns="0" rIns="0">
            <a:spAutoFit/>
          </a:bodyPr>
          <a:lstStyle/>
          <a:p>
            <a:pPr algn="l" marL="474979" indent="-237490" lvl="1">
              <a:lnSpc>
                <a:spcPts val="3079"/>
              </a:lnSpc>
              <a:spcBef>
                <a:spcPct val="0"/>
              </a:spcBef>
              <a:buFont typeface="Arial"/>
              <a:buChar char="•"/>
            </a:pPr>
            <a:r>
              <a:rPr lang="en-US" b="true" sz="2199">
                <a:solidFill>
                  <a:srgbClr val="000000"/>
                </a:solidFill>
                <a:latin typeface="Garet Bold"/>
                <a:ea typeface="Garet Bold"/>
                <a:cs typeface="Garet Bold"/>
                <a:sym typeface="Garet Bold"/>
              </a:rPr>
              <a:t>Attacker Tries to access arbitrary files and directories stored on the application's file system, including source code, configuration files, and system files. By manipulating file paths in an input parameter to reference files outside of the intended directory, often using ../ sequences.</a:t>
            </a:r>
          </a:p>
          <a:p>
            <a:pPr algn="l" marL="474979" indent="-237490" lvl="1">
              <a:lnSpc>
                <a:spcPts val="3079"/>
              </a:lnSpc>
              <a:spcBef>
                <a:spcPct val="0"/>
              </a:spcBef>
              <a:buFont typeface="Arial"/>
              <a:buChar char="•"/>
            </a:pPr>
            <a:r>
              <a:rPr lang="en-US" b="true" sz="2199">
                <a:solidFill>
                  <a:srgbClr val="000000"/>
                </a:solidFill>
                <a:latin typeface="Garet Bold"/>
                <a:ea typeface="Garet Bold"/>
                <a:cs typeface="Garet Bold"/>
                <a:sym typeface="Garet Bold"/>
              </a:rPr>
              <a:t>Impact: Disclosure of sensitive system information, or in some cases, remote code execution.</a:t>
            </a:r>
          </a:p>
          <a:p>
            <a:pPr algn="l">
              <a:lnSpc>
                <a:spcPts val="3079"/>
              </a:lnSpc>
              <a:spcBef>
                <a:spcPct val="0"/>
              </a:spcBef>
            </a:pPr>
          </a:p>
        </p:txBody>
      </p:sp>
      <p:sp>
        <p:nvSpPr>
          <p:cNvPr name="TextBox 7" id="7"/>
          <p:cNvSpPr txBox="true"/>
          <p:nvPr/>
        </p:nvSpPr>
        <p:spPr>
          <a:xfrm rot="0">
            <a:off x="16236380" y="1073404"/>
            <a:ext cx="803434" cy="365735"/>
          </a:xfrm>
          <a:prstGeom prst="rect">
            <a:avLst/>
          </a:prstGeom>
        </p:spPr>
        <p:txBody>
          <a:bodyPr anchor="t" rtlCol="false" tIns="0" lIns="0" bIns="0" rIns="0">
            <a:spAutoFit/>
          </a:bodyPr>
          <a:lstStyle/>
          <a:p>
            <a:pPr algn="ctr">
              <a:lnSpc>
                <a:spcPts val="2939"/>
              </a:lnSpc>
              <a:spcBef>
                <a:spcPct val="0"/>
              </a:spcBef>
            </a:pPr>
            <a:r>
              <a:rPr lang="en-US" b="true" sz="2099">
                <a:solidFill>
                  <a:srgbClr val="000000"/>
                </a:solidFill>
                <a:latin typeface="Garet Bold"/>
                <a:ea typeface="Garet Bold"/>
                <a:cs typeface="Garet Bold"/>
                <a:sym typeface="Garet Bold"/>
              </a:rPr>
              <a:t>08/10</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8593227" y="3419533"/>
            <a:ext cx="8666073" cy="5838767"/>
          </a:xfrm>
          <a:custGeom>
            <a:avLst/>
            <a:gdLst/>
            <a:ahLst/>
            <a:cxnLst/>
            <a:rect r="r" b="b" t="t" l="l"/>
            <a:pathLst>
              <a:path h="5838767" w="8666073">
                <a:moveTo>
                  <a:pt x="0" y="0"/>
                </a:moveTo>
                <a:lnTo>
                  <a:pt x="8666073" y="0"/>
                </a:lnTo>
                <a:lnTo>
                  <a:pt x="8666073" y="5838767"/>
                </a:lnTo>
                <a:lnTo>
                  <a:pt x="0" y="5838767"/>
                </a:lnTo>
                <a:lnTo>
                  <a:pt x="0" y="0"/>
                </a:lnTo>
                <a:close/>
              </a:path>
            </a:pathLst>
          </a:custGeom>
          <a:blipFill>
            <a:blip r:embed="rId3"/>
            <a:stretch>
              <a:fillRect l="0" t="0" r="0" b="0"/>
            </a:stretch>
          </a:blipFill>
        </p:spPr>
      </p:sp>
      <p:sp>
        <p:nvSpPr>
          <p:cNvPr name="TextBox 4" id="4"/>
          <p:cNvSpPr txBox="true"/>
          <p:nvPr/>
        </p:nvSpPr>
        <p:spPr>
          <a:xfrm rot="0">
            <a:off x="12938218" y="981075"/>
            <a:ext cx="43210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09/10</a:t>
            </a:r>
          </a:p>
        </p:txBody>
      </p:sp>
      <p:sp>
        <p:nvSpPr>
          <p:cNvPr name="TextBox 5" id="5"/>
          <p:cNvSpPr txBox="true"/>
          <p:nvPr/>
        </p:nvSpPr>
        <p:spPr>
          <a:xfrm rot="0">
            <a:off x="331102" y="855663"/>
            <a:ext cx="9946121"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Garet Bold"/>
                <a:ea typeface="Garet Bold"/>
                <a:cs typeface="Garet Bold"/>
                <a:sym typeface="Garet Bold"/>
              </a:rPr>
              <a:t>Server-Si</a:t>
            </a:r>
            <a:r>
              <a:rPr lang="en-US" b="true" sz="5199">
                <a:solidFill>
                  <a:srgbClr val="000000"/>
                </a:solidFill>
                <a:latin typeface="Garet Bold"/>
                <a:ea typeface="Garet Bold"/>
                <a:cs typeface="Garet Bold"/>
                <a:sym typeface="Garet Bold"/>
              </a:rPr>
              <a:t>de Request Forgery</a:t>
            </a:r>
          </a:p>
        </p:txBody>
      </p:sp>
      <p:sp>
        <p:nvSpPr>
          <p:cNvPr name="TextBox 6" id="6"/>
          <p:cNvSpPr txBox="true"/>
          <p:nvPr/>
        </p:nvSpPr>
        <p:spPr>
          <a:xfrm rot="0">
            <a:off x="0" y="4089821"/>
            <a:ext cx="7016723" cy="6490725"/>
          </a:xfrm>
          <a:prstGeom prst="rect">
            <a:avLst/>
          </a:prstGeom>
        </p:spPr>
        <p:txBody>
          <a:bodyPr anchor="t" rtlCol="false" tIns="0" lIns="0" bIns="0" rIns="0">
            <a:spAutoFit/>
          </a:bodyPr>
          <a:lstStyle/>
          <a:p>
            <a:pPr algn="l" marL="495650" indent="-247825" lvl="1">
              <a:lnSpc>
                <a:spcPts val="3214"/>
              </a:lnSpc>
              <a:buFont typeface="Arial"/>
              <a:buChar char="•"/>
            </a:pPr>
            <a:r>
              <a:rPr lang="en-US" b="true" sz="2295">
                <a:solidFill>
                  <a:srgbClr val="000000"/>
                </a:solidFill>
                <a:latin typeface="Canva Sans Bold"/>
                <a:ea typeface="Canva Sans Bold"/>
                <a:cs typeface="Canva Sans Bold"/>
                <a:sym typeface="Canva Sans Bold"/>
              </a:rPr>
              <a:t>A</a:t>
            </a:r>
            <a:r>
              <a:rPr lang="en-US" b="true" sz="2295">
                <a:solidFill>
                  <a:srgbClr val="000000"/>
                </a:solidFill>
                <a:latin typeface="Canva Sans Bold"/>
                <a:ea typeface="Canva Sans Bold"/>
                <a:cs typeface="Canva Sans Bold"/>
                <a:sym typeface="Canva Sans Bold"/>
              </a:rPr>
              <a:t>ttacker tries to abuse a server's functionality to make it issue an arbitrary HTTP request to an internal or external resource chosen by the attacker.</a:t>
            </a:r>
          </a:p>
          <a:p>
            <a:pPr algn="l">
              <a:lnSpc>
                <a:spcPts val="3214"/>
              </a:lnSpc>
            </a:pPr>
          </a:p>
          <a:p>
            <a:pPr algn="l" marL="495650" indent="-247825" lvl="1">
              <a:lnSpc>
                <a:spcPts val="3214"/>
              </a:lnSpc>
              <a:buFont typeface="Arial"/>
              <a:buChar char="•"/>
            </a:pPr>
            <a:r>
              <a:rPr lang="en-US" b="true" sz="2295">
                <a:solidFill>
                  <a:srgbClr val="000000"/>
                </a:solidFill>
                <a:latin typeface="Canva Sans Bold"/>
                <a:ea typeface="Canva Sans Bold"/>
                <a:cs typeface="Canva Sans Bold"/>
                <a:sym typeface="Canva Sans Bold"/>
              </a:rPr>
              <a:t>The application has a feature that fetches a URL provided by a user (e.g., fetching an image from a third-party website). The attacker provides an internal IP address or URL instead.</a:t>
            </a:r>
          </a:p>
          <a:p>
            <a:pPr algn="l">
              <a:lnSpc>
                <a:spcPts val="3214"/>
              </a:lnSpc>
            </a:pPr>
          </a:p>
          <a:p>
            <a:pPr algn="l" marL="495650" indent="-247825" lvl="1">
              <a:lnSpc>
                <a:spcPts val="3214"/>
              </a:lnSpc>
              <a:buFont typeface="Arial"/>
              <a:buChar char="•"/>
            </a:pPr>
            <a:r>
              <a:rPr lang="en-US" b="true" sz="2295">
                <a:solidFill>
                  <a:srgbClr val="000000"/>
                </a:solidFill>
                <a:latin typeface="Canva Sans Bold"/>
                <a:ea typeface="Canva Sans Bold"/>
                <a:cs typeface="Canva Sans Bold"/>
                <a:sym typeface="Canva Sans Bold"/>
              </a:rPr>
              <a:t>Port scanning internal networks, accessing metadata services (like on AWS/GCP), or interacting with internal APIs not meant to be exposed publicly.</a:t>
            </a:r>
          </a:p>
          <a:p>
            <a:pPr algn="l">
              <a:lnSpc>
                <a:spcPts val="3214"/>
              </a:lnSpc>
            </a:pPr>
          </a:p>
        </p:txBody>
      </p:sp>
      <p:sp>
        <p:nvSpPr>
          <p:cNvPr name="Freeform 7" id="7"/>
          <p:cNvSpPr/>
          <p:nvPr/>
        </p:nvSpPr>
        <p:spPr>
          <a:xfrm flipH="false" flipV="false" rot="5400000">
            <a:off x="627991" y="1328671"/>
            <a:ext cx="2180784" cy="3436766"/>
          </a:xfrm>
          <a:custGeom>
            <a:avLst/>
            <a:gdLst/>
            <a:ahLst/>
            <a:cxnLst/>
            <a:rect r="r" b="b" t="t" l="l"/>
            <a:pathLst>
              <a:path h="3436766" w="2180784">
                <a:moveTo>
                  <a:pt x="0" y="0"/>
                </a:moveTo>
                <a:lnTo>
                  <a:pt x="2180784" y="0"/>
                </a:lnTo>
                <a:lnTo>
                  <a:pt x="2180784" y="3436766"/>
                </a:lnTo>
                <a:lnTo>
                  <a:pt x="0" y="34367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4966037" y="3509451"/>
            <a:ext cx="13321963" cy="6777549"/>
          </a:xfrm>
          <a:custGeom>
            <a:avLst/>
            <a:gdLst/>
            <a:ahLst/>
            <a:cxnLst/>
            <a:rect r="r" b="b" t="t" l="l"/>
            <a:pathLst>
              <a:path h="6777549" w="13321963">
                <a:moveTo>
                  <a:pt x="0" y="0"/>
                </a:moveTo>
                <a:lnTo>
                  <a:pt x="13321963" y="0"/>
                </a:lnTo>
                <a:lnTo>
                  <a:pt x="13321963" y="6777549"/>
                </a:lnTo>
                <a:lnTo>
                  <a:pt x="0" y="6777549"/>
                </a:lnTo>
                <a:lnTo>
                  <a:pt x="0" y="0"/>
                </a:lnTo>
                <a:close/>
              </a:path>
            </a:pathLst>
          </a:custGeom>
          <a:blipFill>
            <a:blip r:embed="rId3"/>
            <a:stretch>
              <a:fillRect l="0" t="0" r="0" b="0"/>
            </a:stretch>
          </a:blipFill>
        </p:spPr>
      </p:sp>
      <p:sp>
        <p:nvSpPr>
          <p:cNvPr name="TextBox 4" id="4"/>
          <p:cNvSpPr txBox="true"/>
          <p:nvPr/>
        </p:nvSpPr>
        <p:spPr>
          <a:xfrm rot="0">
            <a:off x="279283" y="933450"/>
            <a:ext cx="1837055"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Nginx</a:t>
            </a:r>
          </a:p>
        </p:txBody>
      </p:sp>
      <p:sp>
        <p:nvSpPr>
          <p:cNvPr name="TextBox 5" id="5"/>
          <p:cNvSpPr txBox="true"/>
          <p:nvPr/>
        </p:nvSpPr>
        <p:spPr>
          <a:xfrm rot="0">
            <a:off x="279283" y="2508511"/>
            <a:ext cx="4228769" cy="7190065"/>
          </a:xfrm>
          <a:prstGeom prst="rect">
            <a:avLst/>
          </a:prstGeom>
        </p:spPr>
        <p:txBody>
          <a:bodyPr anchor="t" rtlCol="false" tIns="0" lIns="0" bIns="0" rIns="0">
            <a:spAutoFit/>
          </a:bodyPr>
          <a:lstStyle/>
          <a:p>
            <a:pPr algn="l">
              <a:lnSpc>
                <a:spcPts val="3222"/>
              </a:lnSpc>
            </a:pPr>
            <a:r>
              <a:rPr lang="en-US" sz="2301" b="true">
                <a:solidFill>
                  <a:srgbClr val="000000"/>
                </a:solidFill>
                <a:latin typeface="Canva Sans Bold"/>
                <a:ea typeface="Canva Sans Bold"/>
                <a:cs typeface="Canva Sans Bold"/>
                <a:sym typeface="Canva Sans Bold"/>
              </a:rPr>
              <a:t> It is an open-source web server, reverse proxy, loa</a:t>
            </a:r>
            <a:r>
              <a:rPr lang="en-US" b="true" sz="2301">
                <a:solidFill>
                  <a:srgbClr val="000000"/>
                </a:solidFill>
                <a:latin typeface="Canva Sans Bold"/>
                <a:ea typeface="Canva Sans Bold"/>
                <a:cs typeface="Canva Sans Bold"/>
                <a:sym typeface="Canva Sans Bold"/>
              </a:rPr>
              <a:t>d balancer, and HTTP cache. It's known for its high performance and low resource usage. In a modern architecture, Nginx often acts as a Reverse Proxy. This means it sits between the public internet and the application servers.</a:t>
            </a:r>
          </a:p>
          <a:p>
            <a:pPr algn="l">
              <a:lnSpc>
                <a:spcPts val="3222"/>
              </a:lnSpc>
            </a:pPr>
            <a:r>
              <a:rPr lang="en-US" b="true" sz="2301">
                <a:solidFill>
                  <a:srgbClr val="000000"/>
                </a:solidFill>
                <a:latin typeface="Canva Sans Bold"/>
                <a:ea typeface="Canva Sans Bold"/>
                <a:cs typeface="Canva Sans Bold"/>
                <a:sym typeface="Canva Sans Bold"/>
              </a:rPr>
              <a:t>Nginx is the platform where many open-source or commercial WAF solutions are integrated.</a:t>
            </a:r>
          </a:p>
          <a:p>
            <a:pPr algn="l">
              <a:lnSpc>
                <a:spcPts val="3222"/>
              </a:lnSpc>
            </a:pPr>
            <a:r>
              <a:rPr lang="en-US" b="true" sz="2301">
                <a:solidFill>
                  <a:srgbClr val="000000"/>
                </a:solidFill>
                <a:latin typeface="Canva Sans Bold"/>
                <a:ea typeface="Canva Sans Bold"/>
                <a:cs typeface="Canva Sans Bold"/>
                <a:sym typeface="Canva Sans Bold"/>
              </a:rPr>
              <a:t>Nginx is a platform and a gateway where it secures the network flow.</a:t>
            </a:r>
          </a:p>
        </p:txBody>
      </p:sp>
      <p:sp>
        <p:nvSpPr>
          <p:cNvPr name="Freeform 6" id="6"/>
          <p:cNvSpPr/>
          <p:nvPr/>
        </p:nvSpPr>
        <p:spPr>
          <a:xfrm flipH="false" flipV="false" rot="-8349648">
            <a:off x="13695795" y="-442198"/>
            <a:ext cx="6822166" cy="3435891"/>
          </a:xfrm>
          <a:custGeom>
            <a:avLst/>
            <a:gdLst/>
            <a:ahLst/>
            <a:cxnLst/>
            <a:rect r="r" b="b" t="t" l="l"/>
            <a:pathLst>
              <a:path h="3435891" w="6822166">
                <a:moveTo>
                  <a:pt x="0" y="0"/>
                </a:moveTo>
                <a:lnTo>
                  <a:pt x="6822166" y="0"/>
                </a:lnTo>
                <a:lnTo>
                  <a:pt x="6822166" y="3435891"/>
                </a:lnTo>
                <a:lnTo>
                  <a:pt x="0" y="34358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5191274" y="2190401"/>
            <a:ext cx="752475" cy="365735"/>
          </a:xfrm>
          <a:prstGeom prst="rect">
            <a:avLst/>
          </a:prstGeom>
        </p:spPr>
        <p:txBody>
          <a:bodyPr anchor="t" rtlCol="false" tIns="0" lIns="0" bIns="0" rIns="0">
            <a:spAutoFit/>
          </a:bodyPr>
          <a:lstStyle/>
          <a:p>
            <a:pPr algn="ctr">
              <a:lnSpc>
                <a:spcPts val="2939"/>
              </a:lnSpc>
              <a:spcBef>
                <a:spcPct val="0"/>
              </a:spcBef>
            </a:pPr>
            <a:r>
              <a:rPr lang="en-US" b="true" sz="2099">
                <a:solidFill>
                  <a:srgbClr val="000000"/>
                </a:solidFill>
                <a:latin typeface="Garet Bold"/>
                <a:ea typeface="Garet Bold"/>
                <a:cs typeface="Garet Bold"/>
                <a:sym typeface="Garet Bold"/>
              </a:rPr>
              <a:t>10</a:t>
            </a:r>
            <a:r>
              <a:rPr lang="en-US" b="true" sz="2099">
                <a:solidFill>
                  <a:srgbClr val="000000"/>
                </a:solidFill>
                <a:latin typeface="Garet Bold"/>
                <a:ea typeface="Garet Bold"/>
                <a:cs typeface="Garet Bold"/>
                <a:sym typeface="Garet Bold"/>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6102343" y="4652713"/>
            <a:ext cx="7203393" cy="1123949"/>
          </a:xfrm>
          <a:prstGeom prst="rect">
            <a:avLst/>
          </a:prstGeom>
        </p:spPr>
        <p:txBody>
          <a:bodyPr anchor="t" rtlCol="false" tIns="0" lIns="0" bIns="0" rIns="0">
            <a:spAutoFit/>
          </a:bodyPr>
          <a:lstStyle/>
          <a:p>
            <a:pPr algn="l">
              <a:lnSpc>
                <a:spcPts val="7799"/>
              </a:lnSpc>
            </a:pPr>
            <a:r>
              <a:rPr lang="en-US" sz="9999" spc="-789">
                <a:solidFill>
                  <a:srgbClr val="000000"/>
                </a:solidFill>
                <a:latin typeface="Archivo Black"/>
                <a:ea typeface="Archivo Black"/>
                <a:cs typeface="Archivo Black"/>
                <a:sym typeface="Archivo Black"/>
              </a:rPr>
              <a:t>Thank you</a:t>
            </a:r>
          </a:p>
        </p:txBody>
      </p:sp>
      <p:sp>
        <p:nvSpPr>
          <p:cNvPr name="AutoShape 4" id="4"/>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5" id="5"/>
          <p:cNvSpPr/>
          <p:nvPr/>
        </p:nvSpPr>
        <p:spPr>
          <a:xfrm>
            <a:off x="-585133" y="9263062"/>
            <a:ext cx="18873133" cy="0"/>
          </a:xfrm>
          <a:prstGeom prst="line">
            <a:avLst/>
          </a:prstGeom>
          <a:ln cap="rnd" w="9525">
            <a:solidFill>
              <a:srgbClr val="000000"/>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DAG7rnPzY6o</dc:identifier>
  <dcterms:modified xsi:type="dcterms:W3CDTF">2011-08-01T06:04:30Z</dcterms:modified>
  <cp:revision>1</cp:revision>
  <dc:title>Lebron James Inc.pptx</dc:title>
</cp:coreProperties>
</file>